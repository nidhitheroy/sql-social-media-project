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4.xml"/>
  <Override ContentType="application/vnd.ms-office.chartcolorstyle+xml" PartName="/ppt/charts/colors1.xml"/>
  <Override ContentType="application/vnd.ms-office.chartcolorstyle+xml" PartName="/ppt/charts/colors2.xml"/>
  <Override ContentType="application/vnd.ms-office.chartcolorstyle+xml" PartName="/ppt/charts/colors3.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6.xml"/>
  <Override ContentType="application/vnd.openxmlformats-officedocument.drawingml.chart+xml" PartName="/ppt/charts/char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4.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24">
          <p15:clr>
            <a:srgbClr val="747775"/>
          </p15:clr>
        </p15:guide>
      </p15:sldGuideLst>
    </p:ext>
    <p:ext uri="GoogleSlidesCustomDataVersion2">
      <go:slidesCustomData xmlns:go="http://customooxmlschemas.google.com/" r:id="rId24" roundtripDataSignature="AMtx7mhzPL7p7RWYk4PE8XoFFeQGx2G4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2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C:\Users\hp\AppData\Roaming\Microsoft\Excel\Book1%20(version%202).xlsb"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hp\AppData\Roaming\Microsoft\Excel\Book1%20(version%202).xlsb"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hp\AppData\Roaming\Microsoft\Excel\Book1%20(version%202).xlsb" TargetMode="External"/></Relationships>
</file>

<file path=ppt/charts/_rels/chart4.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C:\Users\hp\AppData\Roaming\Microsoft\Excel\Book1%20(version%202).xlsb"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hp\AppData\Roaming\Microsoft\Excel\Book1%20(version%202).xlsb" TargetMode="External"/></Relationships>
</file>

<file path=ppt/charts/_rels/chart6.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C:\Users\hp\AppData\Roaming\Microsoft\Excel\Book1%20(version%202).xlsb"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[Book1 (version 2).xlsb]Subjective!PivotTable21</c:name>
    <c:fmtId val="5"/>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910" baseline="0" dirty="0">
                <a:solidFill>
                  <a:schemeClr val="tx1"/>
                </a:solidFill>
              </a:rPr>
              <a:t>Engagement Level </a:t>
            </a:r>
            <a:endParaRPr lang="en-US" sz="1910" baseline="0" dirty="0">
              <a:solidFill>
                <a:schemeClr val="tx1"/>
              </a:solidFill>
            </a:endParaRPr>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pivotFmt>
      <c:pivotFmt>
        <c:idx val="1"/>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2"/>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3"/>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4"/>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7"/>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8"/>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9"/>
        <c:dLbl>
          <c:idx val="0"/>
          <c:showLegendKey val="0"/>
          <c:showVal val="0"/>
          <c:showCatName val="0"/>
          <c:showSerName val="0"/>
          <c:showPercent val="0"/>
          <c:showBubbleSize val="0"/>
          <c:extLst>
            <c:ext xmlns:c15="http://schemas.microsoft.com/office/drawing/2012/chart" uri="{CE6537A1-D6FC-4f65-9D91-7224C49458BB}"/>
          </c:extLst>
        </c:dLbl>
      </c:pivotFmt>
      <c:pivotFmt>
        <c:idx val="10"/>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11"/>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12"/>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13"/>
      </c:pivotFmt>
      <c:pivotFmt>
        <c:idx val="14"/>
      </c:pivotFmt>
      <c:pivotFmt>
        <c:idx val="15"/>
      </c:pivotFmt>
      <c:pivotFmt>
        <c:idx val="16"/>
      </c:pivotFmt>
      <c:pivotFmt>
        <c:idx val="17"/>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circle"/>
          <c:size val="6"/>
        </c:marke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18"/>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xForSave val="1"/>
            </c:ext>
          </c:extLst>
        </c:dLbl>
      </c:pivotFmt>
      <c:pivotFmt>
        <c:idx val="19"/>
        <c:spPr>
          <a:solidFill>
            <a:schemeClr val="accent1"/>
          </a:solidFill>
          <a:ln w="19050">
            <a:solidFill>
              <a:schemeClr val="lt1"/>
            </a:solidFill>
          </a:ln>
          <a:effectLst>
            <a:innerShdw blurRad="114300">
              <a:schemeClr val="accent3">
                <a:lumMod val="75000"/>
              </a:schemeClr>
            </a:innerShdw>
          </a:effectLst>
          <a:scene3d>
            <a:camera prst="orthographicFront"/>
            <a:lightRig rig="threePt" dir="t"/>
          </a:scene3d>
          <a:sp3d contourW="19050" prstMaterial="flat">
            <a:contourClr>
              <a:schemeClr val="accent3">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xForSave val="1"/>
            </c:ext>
          </c:extLst>
        </c:dLbl>
      </c:pivotFmt>
      <c:pivotFmt>
        <c:idx val="20"/>
        <c:spPr>
          <a:solidFill>
            <a:schemeClr val="accent1"/>
          </a:solidFill>
          <a:ln w="19050">
            <a:solidFill>
              <a:schemeClr val="lt1"/>
            </a:solidFill>
          </a:ln>
          <a:effectLst>
            <a:innerShdw blurRad="114300">
              <a:schemeClr val="accent5">
                <a:lumMod val="75000"/>
              </a:schemeClr>
            </a:innerShdw>
          </a:effectLst>
          <a:scene3d>
            <a:camera prst="orthographicFront"/>
            <a:lightRig rig="threePt" dir="t"/>
          </a:scene3d>
          <a:sp3d contourW="19050" prstMaterial="flat">
            <a:contourClr>
              <a:schemeClr val="accent5">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xForSave val="1"/>
            </c:ext>
          </c:extLst>
        </c:dLbl>
      </c:pivotFmt>
      <c:pivotFmt>
        <c:idx val="21"/>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none"/>
        </c:marke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2"/>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3"/>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4"/>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5"/>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none"/>
        </c:marke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6"/>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7"/>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8"/>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Subjective!$W$33</c:f>
              <c:strCache>
                <c:ptCount val="1"/>
                <c:pt idx="0">
                  <c:v>Total</c:v>
                </c:pt>
              </c:strCache>
            </c:strRef>
          </c:tx>
          <c:dPt>
            <c:idx val="0"/>
            <c:bubble3D val="0"/>
            <c:spPr>
              <a:solidFill>
                <a:schemeClr val="accent1">
                  <a:shade val="6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1-B1F0-4C34-A5A7-DC5B84B4D54B}"/>
              </c:ext>
            </c:extLst>
          </c:dPt>
          <c:dPt>
            <c:idx val="1"/>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3-B1F0-4C34-A5A7-DC5B84B4D54B}"/>
              </c:ext>
            </c:extLst>
          </c:dPt>
          <c:dPt>
            <c:idx val="2"/>
            <c:bubble3D val="0"/>
            <c:spPr>
              <a:solidFill>
                <a:schemeClr val="accent1">
                  <a:tint val="6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5-B1F0-4C34-A5A7-DC5B84B4D54B}"/>
              </c:ext>
            </c:extLst>
          </c:dPt>
          <c:dLbls>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1"/>
              <c:showSerName val="0"/>
              <c:showPercent val="1"/>
              <c:showBubbleSize val="0"/>
              <c:extLst>
                <c:ext xmlns:c16="http://schemas.microsoft.com/office/drawing/2014/chart" uri="{C3380CC4-5D6E-409C-BE32-E72D297353CC}">
                  <c16:uniqueId val="{00000001-B1F0-4C34-A5A7-DC5B84B4D54B}"/>
                </c:ext>
              </c:extLst>
            </c:dLbl>
            <c:dLbl>
              <c:idx val="1"/>
              <c:spPr>
                <a:solidFill>
                  <a:schemeClr val="bg1"/>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1"/>
              <c:showSerName val="0"/>
              <c:showPercent val="1"/>
              <c:showBubbleSize val="0"/>
              <c:extLst>
                <c:ext xmlns:c16="http://schemas.microsoft.com/office/drawing/2014/chart" uri="{C3380CC4-5D6E-409C-BE32-E72D297353CC}">
                  <c16:uniqueId val="{00000003-B1F0-4C34-A5A7-DC5B84B4D54B}"/>
                </c:ext>
              </c:extLst>
            </c:dLbl>
            <c:dLbl>
              <c:idx val="2"/>
              <c:spPr>
                <a:solidFill>
                  <a:schemeClr val="bg1"/>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1"/>
              <c:showSerName val="0"/>
              <c:showPercent val="1"/>
              <c:showBubbleSize val="0"/>
              <c:extLst>
                <c:ext xmlns:c16="http://schemas.microsoft.com/office/drawing/2014/chart" uri="{C3380CC4-5D6E-409C-BE32-E72D297353CC}">
                  <c16:uniqueId val="{00000005-B1F0-4C34-A5A7-DC5B84B4D54B}"/>
                </c:ext>
              </c:extLst>
            </c:dLbl>
            <c:spPr>
              <a:solidFill>
                <a:schemeClr val="bg1"/>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Subjective!$V$34:$V$37</c:f>
              <c:strCache>
                <c:ptCount val="3"/>
                <c:pt idx="0">
                  <c:v>Ative Users</c:v>
                </c:pt>
                <c:pt idx="1">
                  <c:v>Inactive Users</c:v>
                </c:pt>
                <c:pt idx="2">
                  <c:v>Moderately Active Users</c:v>
                </c:pt>
              </c:strCache>
            </c:strRef>
          </c:cat>
          <c:val>
            <c:numRef>
              <c:f>Subjective!$W$34:$W$37</c:f>
              <c:numCache>
                <c:formatCode>General</c:formatCode>
                <c:ptCount val="3"/>
                <c:pt idx="0">
                  <c:v>30</c:v>
                </c:pt>
                <c:pt idx="1">
                  <c:v>36</c:v>
                </c:pt>
                <c:pt idx="2">
                  <c:v>34</c:v>
                </c:pt>
              </c:numCache>
            </c:numRef>
          </c:val>
          <c:extLst>
            <c:ext xmlns:c16="http://schemas.microsoft.com/office/drawing/2014/chart" uri="{C3380CC4-5D6E-409C-BE32-E72D297353CC}">
              <c16:uniqueId val="{00000006-B1F0-4C34-A5A7-DC5B84B4D54B}"/>
            </c:ext>
          </c:extLst>
        </c:ser>
        <c:dLbls>
          <c:dLblPos val="inEnd"/>
          <c:showLegendKey val="0"/>
          <c:showVal val="0"/>
          <c:showCatName val="1"/>
          <c:showSerName val="0"/>
          <c:showPercent val="0"/>
          <c:showBubbleSize val="0"/>
          <c:showLeaderLines val="1"/>
        </c:dLbls>
      </c:pie3D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[Book1 (version 2).xlsb]Subjective!PivotTable21</c:name>
    <c:fmtId val="5"/>
  </c:pivotSource>
  <c:chart>
    <c:autoTitleDeleted val="1"/>
    <c:pivotFmts>
      <c:pivotFmt>
        <c:idx val="0"/>
      </c:pivotFmt>
      <c:pivotFmt>
        <c:idx val="1"/>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2"/>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3"/>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4"/>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7"/>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8"/>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9"/>
        <c:dLbl>
          <c:idx val="0"/>
          <c:showLegendKey val="0"/>
          <c:showVal val="0"/>
          <c:showCatName val="0"/>
          <c:showSerName val="0"/>
          <c:showPercent val="0"/>
          <c:showBubbleSize val="0"/>
          <c:extLst>
            <c:ext xmlns:c15="http://schemas.microsoft.com/office/drawing/2012/chart" uri="{CE6537A1-D6FC-4f65-9D91-7224C49458BB}"/>
          </c:extLst>
        </c:dLbl>
      </c:pivotFmt>
      <c:pivotFmt>
        <c:idx val="10"/>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11"/>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12"/>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13"/>
      </c:pivotFmt>
      <c:pivotFmt>
        <c:idx val="14"/>
      </c:pivotFmt>
      <c:pivotFmt>
        <c:idx val="15"/>
      </c:pivotFmt>
      <c:pivotFmt>
        <c:idx val="16"/>
      </c:pivotFmt>
      <c:pivotFmt>
        <c:idx val="17"/>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circle"/>
          <c:size val="6"/>
        </c:marke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18"/>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xForSave val="1"/>
            </c:ext>
          </c:extLst>
        </c:dLbl>
      </c:pivotFmt>
      <c:pivotFmt>
        <c:idx val="19"/>
        <c:spPr>
          <a:solidFill>
            <a:schemeClr val="accent1"/>
          </a:solidFill>
          <a:ln w="19050">
            <a:solidFill>
              <a:schemeClr val="lt1"/>
            </a:solidFill>
          </a:ln>
          <a:effectLst>
            <a:innerShdw blurRad="114300">
              <a:schemeClr val="accent3">
                <a:lumMod val="75000"/>
              </a:schemeClr>
            </a:innerShdw>
          </a:effectLst>
          <a:scene3d>
            <a:camera prst="orthographicFront"/>
            <a:lightRig rig="threePt" dir="t"/>
          </a:scene3d>
          <a:sp3d contourW="19050" prstMaterial="flat">
            <a:contourClr>
              <a:schemeClr val="accent3">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xForSave val="1"/>
            </c:ext>
          </c:extLst>
        </c:dLbl>
      </c:pivotFmt>
      <c:pivotFmt>
        <c:idx val="20"/>
        <c:spPr>
          <a:solidFill>
            <a:schemeClr val="accent1"/>
          </a:solidFill>
          <a:ln w="19050">
            <a:solidFill>
              <a:schemeClr val="lt1"/>
            </a:solidFill>
          </a:ln>
          <a:effectLst>
            <a:innerShdw blurRad="114300">
              <a:schemeClr val="accent5">
                <a:lumMod val="75000"/>
              </a:schemeClr>
            </a:innerShdw>
          </a:effectLst>
          <a:scene3d>
            <a:camera prst="orthographicFront"/>
            <a:lightRig rig="threePt" dir="t"/>
          </a:scene3d>
          <a:sp3d contourW="19050" prstMaterial="flat">
            <a:contourClr>
              <a:schemeClr val="accent5">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xForSave val="1"/>
            </c:ext>
          </c:extLst>
        </c:dLbl>
      </c:pivotFmt>
      <c:pivotFmt>
        <c:idx val="21"/>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none"/>
        </c:marke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2"/>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3"/>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4"/>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5"/>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none"/>
        </c:marke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6"/>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7"/>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8"/>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4.3650481189851265E-2"/>
          <c:y val="0"/>
          <c:w val="0.95634920634920639"/>
          <c:h val="0.96059113856347511"/>
        </c:manualLayout>
      </c:layout>
      <c:pie3DChart>
        <c:varyColors val="1"/>
        <c:ser>
          <c:idx val="0"/>
          <c:order val="0"/>
          <c:tx>
            <c:strRef>
              <c:f>Subjective!$W$33</c:f>
              <c:strCache>
                <c:ptCount val="1"/>
                <c:pt idx="0">
                  <c:v>Total</c:v>
                </c:pt>
              </c:strCache>
            </c:strRef>
          </c:tx>
          <c:explosion val="256"/>
          <c:dPt>
            <c:idx val="0"/>
            <c:bubble3D val="0"/>
            <c:spPr>
              <a:solidFill>
                <a:schemeClr val="accent1">
                  <a:shade val="65000"/>
                </a:schemeClr>
              </a:solidFill>
              <a:ln w="25400">
                <a:solidFill>
                  <a:schemeClr val="lt1"/>
                </a:solidFill>
              </a:ln>
              <a:effectLst/>
              <a:sp3d contourW="25400">
                <a:contourClr>
                  <a:schemeClr val="lt1"/>
                </a:contourClr>
              </a:sp3d>
            </c:spPr>
          </c:dPt>
          <c:dPt>
            <c:idx val="1"/>
            <c:bubble3D val="0"/>
            <c:spPr>
              <a:solidFill>
                <a:schemeClr val="accent1"/>
              </a:solidFill>
              <a:ln w="25400">
                <a:solidFill>
                  <a:schemeClr val="lt1"/>
                </a:solidFill>
              </a:ln>
              <a:effectLst/>
              <a:sp3d contourW="25400">
                <a:contourClr>
                  <a:schemeClr val="lt1"/>
                </a:contourClr>
              </a:sp3d>
            </c:spPr>
          </c:dPt>
          <c:dPt>
            <c:idx val="2"/>
            <c:bubble3D val="0"/>
            <c:spPr>
              <a:solidFill>
                <a:schemeClr val="accent1">
                  <a:tint val="65000"/>
                </a:schemeClr>
              </a:solidFill>
              <a:ln w="25400">
                <a:solidFill>
                  <a:schemeClr val="lt1"/>
                </a:solidFill>
              </a:ln>
              <a:effectLst/>
              <a:sp3d contourW="25400">
                <a:contourClr>
                  <a:schemeClr val="lt1"/>
                </a:contourClr>
              </a:sp3d>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Subjective!$V$34:$V$37</c:f>
              <c:strCache>
                <c:ptCount val="3"/>
                <c:pt idx="0">
                  <c:v>Ative Users</c:v>
                </c:pt>
                <c:pt idx="1">
                  <c:v>Inactive Users</c:v>
                </c:pt>
                <c:pt idx="2">
                  <c:v>Moderately Active Users</c:v>
                </c:pt>
              </c:strCache>
            </c:strRef>
          </c:cat>
          <c:val>
            <c:numRef>
              <c:f>Subjective!$W$34:$W$37</c:f>
              <c:numCache>
                <c:formatCode>General</c:formatCode>
                <c:ptCount val="3"/>
                <c:pt idx="0">
                  <c:v>30</c:v>
                </c:pt>
                <c:pt idx="1">
                  <c:v>36</c:v>
                </c:pt>
                <c:pt idx="2">
                  <c:v>34</c:v>
                </c:pt>
              </c:numCache>
            </c:numRef>
          </c:val>
          <c:extLst>
            <c:ext xmlns:c16="http://schemas.microsoft.com/office/drawing/2014/chart" uri="{C3380CC4-5D6E-409C-BE32-E72D297353CC}">
              <c16:uniqueId val="{00000009-B1F0-4C34-A5A7-DC5B84B4D54B}"/>
            </c:ext>
          </c:extLst>
        </c:ser>
        <c:dLbls>
          <c:dLblPos val="inEnd"/>
          <c:showLegendKey val="0"/>
          <c:showVal val="0"/>
          <c:showCatName val="1"/>
          <c:showSerName val="0"/>
          <c:showPercent val="0"/>
          <c:showBubbleSize val="0"/>
          <c:showLeaderLines val="1"/>
        </c:dLbls>
      </c:pie3DChart>
      <c:spPr>
        <a:noFill/>
        <a:ln w="25400">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[Book1 (version 2).xlsb]Subjective!PivotTable29</c:name>
    <c:fmtId val="10"/>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User Activity (posts)</a:t>
            </a:r>
          </a:p>
        </c:rich>
      </c:tx>
      <c:layout/>
      <c:overlay val="0"/>
      <c:spPr>
        <a:noFill/>
        <a:ln>
          <a:noFill/>
        </a:ln>
        <a:effectLst/>
      </c:spPr>
    </c:title>
    <c:autoTitleDeleted val="0"/>
    <c:pivotFmts>
      <c:pivotFmt>
        <c:idx val="0"/>
      </c:pivotFmt>
      <c:pivotFmt>
        <c:idx val="1"/>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Subjective!$B$106</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Subjective!$A$107:$A$119</c:f>
              <c:strCache>
                <c:ptCount val="12"/>
                <c:pt idx="0">
                  <c:v>0</c:v>
                </c:pt>
                <c:pt idx="1">
                  <c:v>1</c:v>
                </c:pt>
                <c:pt idx="2">
                  <c:v>2</c:v>
                </c:pt>
                <c:pt idx="3">
                  <c:v>3</c:v>
                </c:pt>
                <c:pt idx="4">
                  <c:v>4</c:v>
                </c:pt>
                <c:pt idx="5">
                  <c:v>5</c:v>
                </c:pt>
                <c:pt idx="6">
                  <c:v>6</c:v>
                </c:pt>
                <c:pt idx="7">
                  <c:v>8</c:v>
                </c:pt>
                <c:pt idx="8">
                  <c:v>9</c:v>
                </c:pt>
                <c:pt idx="9">
                  <c:v>10</c:v>
                </c:pt>
                <c:pt idx="10">
                  <c:v>11</c:v>
                </c:pt>
                <c:pt idx="11">
                  <c:v>12</c:v>
                </c:pt>
              </c:strCache>
            </c:strRef>
          </c:cat>
          <c:val>
            <c:numRef>
              <c:f>Subjective!$B$107:$B$119</c:f>
              <c:numCache>
                <c:formatCode>General</c:formatCode>
                <c:ptCount val="12"/>
                <c:pt idx="0">
                  <c:v>26</c:v>
                </c:pt>
                <c:pt idx="1">
                  <c:v>18</c:v>
                </c:pt>
                <c:pt idx="2">
                  <c:v>13</c:v>
                </c:pt>
                <c:pt idx="3">
                  <c:v>9</c:v>
                </c:pt>
                <c:pt idx="4">
                  <c:v>13</c:v>
                </c:pt>
                <c:pt idx="5">
                  <c:v>14</c:v>
                </c:pt>
                <c:pt idx="6">
                  <c:v>1</c:v>
                </c:pt>
                <c:pt idx="7">
                  <c:v>2</c:v>
                </c:pt>
                <c:pt idx="8">
                  <c:v>1</c:v>
                </c:pt>
                <c:pt idx="9">
                  <c:v>1</c:v>
                </c:pt>
                <c:pt idx="10">
                  <c:v>1</c:v>
                </c:pt>
                <c:pt idx="11">
                  <c:v>1</c:v>
                </c:pt>
              </c:numCache>
            </c:numRef>
          </c:val>
          <c:extLst>
            <c:ext xmlns:c16="http://schemas.microsoft.com/office/drawing/2014/chart" uri="{C3380CC4-5D6E-409C-BE32-E72D297353CC}">
              <c16:uniqueId val="{00000000-96F7-425A-B96C-76C5E38286E5}"/>
            </c:ext>
          </c:extLst>
        </c:ser>
        <c:dLbls>
          <c:dLblPos val="outEnd"/>
          <c:showLegendKey val="0"/>
          <c:showVal val="1"/>
          <c:showCatName val="0"/>
          <c:showSerName val="0"/>
          <c:showPercent val="0"/>
          <c:showBubbleSize val="0"/>
        </c:dLbls>
        <c:gapWidth val="100"/>
        <c:overlap val="-24"/>
        <c:axId val="716849360"/>
        <c:axId val="716847696"/>
      </c:barChart>
      <c:catAx>
        <c:axId val="716849360"/>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a:t>Total Posts</a:t>
                </a:r>
              </a:p>
            </c:rich>
          </c:tx>
          <c:layout/>
          <c:overlay val="0"/>
          <c:spPr>
            <a:noFill/>
            <a:ln>
              <a:noFill/>
            </a:ln>
            <a:effectLst/>
          </c:sp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6847696"/>
        <c:crosses val="autoZero"/>
        <c:auto val="1"/>
        <c:lblAlgn val="ctr"/>
        <c:lblOffset val="100"/>
        <c:noMultiLvlLbl val="0"/>
      </c:catAx>
      <c:valAx>
        <c:axId val="7168476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a:t>User's Count</a:t>
                </a:r>
              </a:p>
            </c:rich>
          </c:tx>
          <c:layout>
            <c:manualLayout>
              <c:xMode val="edge"/>
              <c:yMode val="edge"/>
              <c:x val="7.4580484773151025E-3"/>
              <c:y val="0.41453526602328034"/>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6849360"/>
        <c:crosses val="autoZero"/>
        <c:crossBetween val="between"/>
      </c:valAx>
      <c:spPr>
        <a:noFill/>
        <a:ln>
          <a:noFill/>
        </a:ln>
        <a:effectLst/>
      </c:spPr>
    </c:plotArea>
    <c:plotVisOnly val="1"/>
    <c:dispBlanksAs val="gap"/>
    <c:showDLblsOverMax val="0"/>
  </c:chart>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[Book1 (version 2).xlsb]Subjective!PivotTable21</c:name>
    <c:fmtId val="5"/>
  </c:pivotSource>
  <c:chart>
    <c:autoTitleDeleted val="1"/>
    <c:pivotFmts>
      <c:pivotFmt>
        <c:idx val="0"/>
      </c:pivotFmt>
      <c:pivotFmt>
        <c:idx val="1"/>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2"/>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3"/>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4"/>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7"/>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8"/>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9"/>
        <c:dLbl>
          <c:idx val="0"/>
          <c:showLegendKey val="0"/>
          <c:showVal val="0"/>
          <c:showCatName val="0"/>
          <c:showSerName val="0"/>
          <c:showPercent val="0"/>
          <c:showBubbleSize val="0"/>
          <c:extLst>
            <c:ext xmlns:c15="http://schemas.microsoft.com/office/drawing/2012/chart" uri="{CE6537A1-D6FC-4f65-9D91-7224C49458BB}"/>
          </c:extLst>
        </c:dLbl>
      </c:pivotFmt>
      <c:pivotFmt>
        <c:idx val="10"/>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11"/>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12"/>
        <c:dLbl>
          <c:idx val="0"/>
          <c:dLblPos val="inEnd"/>
          <c:showLegendKey val="0"/>
          <c:showVal val="0"/>
          <c:showCatName val="1"/>
          <c:showSerName val="0"/>
          <c:showPercent val="0"/>
          <c:showBubbleSize val="0"/>
          <c:extLst>
            <c:ext xmlns:c15="http://schemas.microsoft.com/office/drawing/2012/chart" uri="{CE6537A1-D6FC-4f65-9D91-7224C49458BB}"/>
          </c:extLst>
        </c:dLbl>
      </c:pivotFmt>
      <c:pivotFmt>
        <c:idx val="13"/>
      </c:pivotFmt>
      <c:pivotFmt>
        <c:idx val="14"/>
      </c:pivotFmt>
      <c:pivotFmt>
        <c:idx val="15"/>
      </c:pivotFmt>
      <c:pivotFmt>
        <c:idx val="16"/>
      </c:pivotFmt>
      <c:pivotFmt>
        <c:idx val="17"/>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circle"/>
          <c:size val="6"/>
        </c:marke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18"/>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xForSave val="1"/>
            </c:ext>
          </c:extLst>
        </c:dLbl>
      </c:pivotFmt>
      <c:pivotFmt>
        <c:idx val="19"/>
        <c:spPr>
          <a:solidFill>
            <a:schemeClr val="accent1"/>
          </a:solidFill>
          <a:ln w="19050">
            <a:solidFill>
              <a:schemeClr val="lt1"/>
            </a:solidFill>
          </a:ln>
          <a:effectLst>
            <a:innerShdw blurRad="114300">
              <a:schemeClr val="accent3">
                <a:lumMod val="75000"/>
              </a:schemeClr>
            </a:innerShdw>
          </a:effectLst>
          <a:scene3d>
            <a:camera prst="orthographicFront"/>
            <a:lightRig rig="threePt" dir="t"/>
          </a:scene3d>
          <a:sp3d contourW="19050" prstMaterial="flat">
            <a:contourClr>
              <a:schemeClr val="accent3">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xForSave val="1"/>
            </c:ext>
          </c:extLst>
        </c:dLbl>
      </c:pivotFmt>
      <c:pivotFmt>
        <c:idx val="20"/>
        <c:spPr>
          <a:solidFill>
            <a:schemeClr val="accent1"/>
          </a:solidFill>
          <a:ln w="19050">
            <a:solidFill>
              <a:schemeClr val="lt1"/>
            </a:solidFill>
          </a:ln>
          <a:effectLst>
            <a:innerShdw blurRad="114300">
              <a:schemeClr val="accent5">
                <a:lumMod val="75000"/>
              </a:schemeClr>
            </a:innerShdw>
          </a:effectLst>
          <a:scene3d>
            <a:camera prst="orthographicFront"/>
            <a:lightRig rig="threePt" dir="t"/>
          </a:scene3d>
          <a:sp3d contourW="19050" prstMaterial="flat">
            <a:contourClr>
              <a:schemeClr val="accent5">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xForSave val="1"/>
            </c:ext>
          </c:extLst>
        </c:dLbl>
      </c:pivotFmt>
      <c:pivotFmt>
        <c:idx val="21"/>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none"/>
        </c:marke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2"/>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3"/>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4"/>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5"/>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none"/>
        </c:marke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6"/>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7"/>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8"/>
        <c:spPr>
          <a:solidFill>
            <a:schemeClr val="accent1"/>
          </a:solidFill>
          <a:ln w="19050">
            <a:solidFill>
              <a:schemeClr val="lt1"/>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4.3650481189851265E-2"/>
          <c:y val="0"/>
          <c:w val="0.95634920634920639"/>
          <c:h val="0.96059113856347511"/>
        </c:manualLayout>
      </c:layout>
      <c:pie3DChart>
        <c:varyColors val="1"/>
        <c:ser>
          <c:idx val="0"/>
          <c:order val="0"/>
          <c:tx>
            <c:strRef>
              <c:f>Subjective!$W$33</c:f>
              <c:strCache>
                <c:ptCount val="1"/>
                <c:pt idx="0">
                  <c:v>Total</c:v>
                </c:pt>
              </c:strCache>
            </c:strRef>
          </c:tx>
          <c:explosion val="256"/>
          <c:dPt>
            <c:idx val="0"/>
            <c:bubble3D val="0"/>
            <c:spPr>
              <a:solidFill>
                <a:schemeClr val="accent1">
                  <a:shade val="65000"/>
                </a:schemeClr>
              </a:solidFill>
              <a:ln w="25400">
                <a:solidFill>
                  <a:schemeClr val="lt1"/>
                </a:solidFill>
              </a:ln>
              <a:effectLst/>
              <a:sp3d contourW="25400">
                <a:contourClr>
                  <a:schemeClr val="lt1"/>
                </a:contourClr>
              </a:sp3d>
            </c:spPr>
          </c:dPt>
          <c:dPt>
            <c:idx val="1"/>
            <c:bubble3D val="0"/>
            <c:spPr>
              <a:solidFill>
                <a:schemeClr val="accent1"/>
              </a:solidFill>
              <a:ln w="25400">
                <a:solidFill>
                  <a:schemeClr val="lt1"/>
                </a:solidFill>
              </a:ln>
              <a:effectLst/>
              <a:sp3d contourW="25400">
                <a:contourClr>
                  <a:schemeClr val="lt1"/>
                </a:contourClr>
              </a:sp3d>
            </c:spPr>
          </c:dPt>
          <c:dPt>
            <c:idx val="2"/>
            <c:bubble3D val="0"/>
            <c:spPr>
              <a:solidFill>
                <a:schemeClr val="accent1">
                  <a:tint val="65000"/>
                </a:schemeClr>
              </a:solidFill>
              <a:ln w="25400">
                <a:solidFill>
                  <a:schemeClr val="lt1"/>
                </a:solidFill>
              </a:ln>
              <a:effectLst/>
              <a:sp3d contourW="25400">
                <a:contourClr>
                  <a:schemeClr val="lt1"/>
                </a:contourClr>
              </a:sp3d>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Subjective!$V$34:$V$37</c:f>
              <c:strCache>
                <c:ptCount val="3"/>
                <c:pt idx="0">
                  <c:v>Ative Users</c:v>
                </c:pt>
                <c:pt idx="1">
                  <c:v>Inactive Users</c:v>
                </c:pt>
                <c:pt idx="2">
                  <c:v>Moderately Active Users</c:v>
                </c:pt>
              </c:strCache>
            </c:strRef>
          </c:cat>
          <c:val>
            <c:numRef>
              <c:f>Subjective!$W$34:$W$37</c:f>
              <c:numCache>
                <c:formatCode>General</c:formatCode>
                <c:ptCount val="3"/>
                <c:pt idx="0">
                  <c:v>30</c:v>
                </c:pt>
                <c:pt idx="1">
                  <c:v>36</c:v>
                </c:pt>
                <c:pt idx="2">
                  <c:v>34</c:v>
                </c:pt>
              </c:numCache>
            </c:numRef>
          </c:val>
          <c:extLst>
            <c:ext xmlns:c16="http://schemas.microsoft.com/office/drawing/2014/chart" uri="{C3380CC4-5D6E-409C-BE32-E72D297353CC}">
              <c16:uniqueId val="{00000009-B1F0-4C34-A5A7-DC5B84B4D54B}"/>
            </c:ext>
          </c:extLst>
        </c:ser>
        <c:dLbls>
          <c:dLblPos val="inEnd"/>
          <c:showLegendKey val="0"/>
          <c:showVal val="0"/>
          <c:showCatName val="1"/>
          <c:showSerName val="0"/>
          <c:showPercent val="0"/>
          <c:showBubbleSize val="0"/>
          <c:showLeaderLines val="1"/>
        </c:dLbls>
      </c:pie3DChart>
      <c:spPr>
        <a:noFill/>
        <a:ln w="25400">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[Book1 (version 2).xlsb]Subjective!PivotTable29</c:name>
    <c:fmtId val="10"/>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User Activity (posts)</a:t>
            </a:r>
          </a:p>
        </c:rich>
      </c:tx>
      <c:layout/>
      <c:overlay val="0"/>
      <c:spPr>
        <a:noFill/>
        <a:ln>
          <a:noFill/>
        </a:ln>
        <a:effectLst/>
      </c:spPr>
    </c:title>
    <c:autoTitleDeleted val="0"/>
    <c:pivotFmts>
      <c:pivotFmt>
        <c:idx val="0"/>
      </c:pivotFmt>
      <c:pivotFmt>
        <c:idx val="1"/>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Subjective!$B$106</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Subjective!$A$107:$A$119</c:f>
              <c:strCache>
                <c:ptCount val="12"/>
                <c:pt idx="0">
                  <c:v>0</c:v>
                </c:pt>
                <c:pt idx="1">
                  <c:v>1</c:v>
                </c:pt>
                <c:pt idx="2">
                  <c:v>2</c:v>
                </c:pt>
                <c:pt idx="3">
                  <c:v>3</c:v>
                </c:pt>
                <c:pt idx="4">
                  <c:v>4</c:v>
                </c:pt>
                <c:pt idx="5">
                  <c:v>5</c:v>
                </c:pt>
                <c:pt idx="6">
                  <c:v>6</c:v>
                </c:pt>
                <c:pt idx="7">
                  <c:v>8</c:v>
                </c:pt>
                <c:pt idx="8">
                  <c:v>9</c:v>
                </c:pt>
                <c:pt idx="9">
                  <c:v>10</c:v>
                </c:pt>
                <c:pt idx="10">
                  <c:v>11</c:v>
                </c:pt>
                <c:pt idx="11">
                  <c:v>12</c:v>
                </c:pt>
              </c:strCache>
            </c:strRef>
          </c:cat>
          <c:val>
            <c:numRef>
              <c:f>Subjective!$B$107:$B$119</c:f>
              <c:numCache>
                <c:formatCode>General</c:formatCode>
                <c:ptCount val="12"/>
                <c:pt idx="0">
                  <c:v>26</c:v>
                </c:pt>
                <c:pt idx="1">
                  <c:v>18</c:v>
                </c:pt>
                <c:pt idx="2">
                  <c:v>13</c:v>
                </c:pt>
                <c:pt idx="3">
                  <c:v>9</c:v>
                </c:pt>
                <c:pt idx="4">
                  <c:v>13</c:v>
                </c:pt>
                <c:pt idx="5">
                  <c:v>14</c:v>
                </c:pt>
                <c:pt idx="6">
                  <c:v>1</c:v>
                </c:pt>
                <c:pt idx="7">
                  <c:v>2</c:v>
                </c:pt>
                <c:pt idx="8">
                  <c:v>1</c:v>
                </c:pt>
                <c:pt idx="9">
                  <c:v>1</c:v>
                </c:pt>
                <c:pt idx="10">
                  <c:v>1</c:v>
                </c:pt>
                <c:pt idx="11">
                  <c:v>1</c:v>
                </c:pt>
              </c:numCache>
            </c:numRef>
          </c:val>
          <c:extLst>
            <c:ext xmlns:c16="http://schemas.microsoft.com/office/drawing/2014/chart" uri="{C3380CC4-5D6E-409C-BE32-E72D297353CC}">
              <c16:uniqueId val="{00000000-96F7-425A-B96C-76C5E38286E5}"/>
            </c:ext>
          </c:extLst>
        </c:ser>
        <c:dLbls>
          <c:dLblPos val="outEnd"/>
          <c:showLegendKey val="0"/>
          <c:showVal val="1"/>
          <c:showCatName val="0"/>
          <c:showSerName val="0"/>
          <c:showPercent val="0"/>
          <c:showBubbleSize val="0"/>
        </c:dLbls>
        <c:gapWidth val="100"/>
        <c:overlap val="-24"/>
        <c:axId val="716849360"/>
        <c:axId val="716847696"/>
      </c:barChart>
      <c:catAx>
        <c:axId val="716849360"/>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a:t>Total Posts</a:t>
                </a:r>
              </a:p>
            </c:rich>
          </c:tx>
          <c:layout/>
          <c:overlay val="0"/>
          <c:spPr>
            <a:noFill/>
            <a:ln>
              <a:noFill/>
            </a:ln>
            <a:effectLst/>
          </c:sp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6847696"/>
        <c:crosses val="autoZero"/>
        <c:auto val="1"/>
        <c:lblAlgn val="ctr"/>
        <c:lblOffset val="100"/>
        <c:noMultiLvlLbl val="0"/>
      </c:catAx>
      <c:valAx>
        <c:axId val="7168476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a:t>User's Count</a:t>
                </a:r>
              </a:p>
            </c:rich>
          </c:tx>
          <c:layout>
            <c:manualLayout>
              <c:xMode val="edge"/>
              <c:yMode val="edge"/>
              <c:x val="7.4580484773151025E-3"/>
              <c:y val="0.41453526602328034"/>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6849360"/>
        <c:crosses val="autoZero"/>
        <c:crossBetween val="between"/>
      </c:valAx>
      <c:spPr>
        <a:noFill/>
        <a:ln>
          <a:noFill/>
        </a:ln>
        <a:effectLst/>
      </c:spPr>
    </c:plotArea>
    <c:plotVisOnly val="1"/>
    <c:dispBlanksAs val="gap"/>
    <c:showDLblsOverMax val="0"/>
  </c:chart>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[Book1 (version 2).xlsb]Subjective!PivotTable30</c:name>
    <c:fmtId val="7"/>
  </c:pivotSource>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US">
                <a:solidFill>
                  <a:schemeClr val="tx1"/>
                </a:solidFill>
              </a:rPr>
              <a:t>Hashtahs vs</a:t>
            </a:r>
            <a:r>
              <a:rPr lang="en-US" baseline="0">
                <a:solidFill>
                  <a:schemeClr val="tx1"/>
                </a:solidFill>
              </a:rPr>
              <a:t> Engagement</a:t>
            </a:r>
            <a:endParaRPr lang="en-US">
              <a:solidFill>
                <a:schemeClr val="tx1"/>
              </a:solidFill>
            </a:endParaRPr>
          </a:p>
        </c:rich>
      </c:tx>
      <c:layout/>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US"/>
        </a:p>
      </c:txPr>
    </c:title>
    <c:autoTitleDeleted val="0"/>
    <c:pivotFmts>
      <c:pivotFmt>
        <c:idx val="0"/>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pivotFmt>
    </c:pivotFmts>
    <c:plotArea>
      <c:layout/>
      <c:barChart>
        <c:barDir val="col"/>
        <c:grouping val="clustered"/>
        <c:varyColors val="0"/>
        <c:ser>
          <c:idx val="0"/>
          <c:order val="0"/>
          <c:tx>
            <c:strRef>
              <c:f>Subjective!$AC$18</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cat>
            <c:strRef>
              <c:f>Subjective!$AB$19:$AB$29</c:f>
              <c:strCache>
                <c:ptCount val="10"/>
                <c:pt idx="0">
                  <c:v>beach</c:v>
                </c:pt>
                <c:pt idx="1">
                  <c:v>beauty</c:v>
                </c:pt>
                <c:pt idx="2">
                  <c:v>delicious</c:v>
                </c:pt>
                <c:pt idx="3">
                  <c:v>dreamy</c:v>
                </c:pt>
                <c:pt idx="4">
                  <c:v>food</c:v>
                </c:pt>
                <c:pt idx="5">
                  <c:v>foodie</c:v>
                </c:pt>
                <c:pt idx="6">
                  <c:v>photography</c:v>
                </c:pt>
                <c:pt idx="7">
                  <c:v>smile</c:v>
                </c:pt>
                <c:pt idx="8">
                  <c:v>stunning</c:v>
                </c:pt>
                <c:pt idx="9">
                  <c:v>sunset</c:v>
                </c:pt>
              </c:strCache>
            </c:strRef>
          </c:cat>
          <c:val>
            <c:numRef>
              <c:f>Subjective!$AC$19:$AC$29</c:f>
              <c:numCache>
                <c:formatCode>General</c:formatCode>
                <c:ptCount val="10"/>
                <c:pt idx="0">
                  <c:v>63</c:v>
                </c:pt>
                <c:pt idx="1">
                  <c:v>65</c:v>
                </c:pt>
                <c:pt idx="2">
                  <c:v>65</c:v>
                </c:pt>
                <c:pt idx="3">
                  <c:v>64</c:v>
                </c:pt>
                <c:pt idx="4">
                  <c:v>64</c:v>
                </c:pt>
                <c:pt idx="5">
                  <c:v>65</c:v>
                </c:pt>
                <c:pt idx="6">
                  <c:v>64</c:v>
                </c:pt>
                <c:pt idx="7">
                  <c:v>64</c:v>
                </c:pt>
                <c:pt idx="8">
                  <c:v>64</c:v>
                </c:pt>
                <c:pt idx="9">
                  <c:v>64</c:v>
                </c:pt>
              </c:numCache>
            </c:numRef>
          </c:val>
          <c:extLst>
            <c:ext xmlns:c16="http://schemas.microsoft.com/office/drawing/2014/chart" uri="{C3380CC4-5D6E-409C-BE32-E72D297353CC}">
              <c16:uniqueId val="{00000000-2CBC-4DF6-853A-611941734281}"/>
            </c:ext>
          </c:extLst>
        </c:ser>
        <c:dLbls>
          <c:showLegendKey val="0"/>
          <c:showVal val="0"/>
          <c:showCatName val="0"/>
          <c:showSerName val="0"/>
          <c:showPercent val="0"/>
          <c:showBubbleSize val="0"/>
        </c:dLbls>
        <c:gapWidth val="100"/>
        <c:overlap val="-24"/>
        <c:axId val="654708416"/>
        <c:axId val="654694688"/>
      </c:barChart>
      <c:catAx>
        <c:axId val="654708416"/>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tx2"/>
                    </a:solidFill>
                    <a:latin typeface="+mn-lt"/>
                    <a:ea typeface="+mn-ea"/>
                    <a:cs typeface="+mn-cs"/>
                  </a:defRPr>
                </a:pPr>
                <a:r>
                  <a:rPr lang="en-US"/>
                  <a:t>Hashtags</a:t>
                </a:r>
              </a:p>
            </c:rich>
          </c:tx>
          <c:layout/>
          <c:overlay val="0"/>
          <c:spPr>
            <a:noFill/>
            <a:ln>
              <a:noFill/>
            </a:ln>
            <a:effectLst/>
          </c:spPr>
          <c:txPr>
            <a:bodyPr rot="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654694688"/>
        <c:crosses val="autoZero"/>
        <c:auto val="1"/>
        <c:lblAlgn val="ctr"/>
        <c:lblOffset val="100"/>
        <c:noMultiLvlLbl val="0"/>
      </c:catAx>
      <c:valAx>
        <c:axId val="654694688"/>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900" b="1" i="0" u="none" strike="noStrike" kern="1200" baseline="0">
                    <a:solidFill>
                      <a:schemeClr val="tx2"/>
                    </a:solidFill>
                    <a:latin typeface="+mn-lt"/>
                    <a:ea typeface="+mn-ea"/>
                    <a:cs typeface="+mn-cs"/>
                  </a:defRPr>
                </a:pPr>
                <a:r>
                  <a:rPr lang="en-US"/>
                  <a:t>Avg Engagement</a:t>
                </a:r>
              </a:p>
            </c:rich>
          </c:tx>
          <c:layout/>
          <c:overlay val="0"/>
          <c:spPr>
            <a:noFill/>
            <a:ln>
              <a:noFill/>
            </a:ln>
            <a:effectLst/>
          </c:spPr>
          <c:txPr>
            <a:bodyPr rot="-540000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654708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9b0a5b6a8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39b0a5b6a81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7"/>
          <p:cNvSpPr/>
          <p:nvPr>
            <p:ph idx="2" type="pic"/>
          </p:nvPr>
        </p:nvSpPr>
        <p:spPr>
          <a:xfrm>
            <a:off x="1792288" y="612775"/>
            <a:ext cx="5486400" cy="4114800"/>
          </a:xfrm>
          <a:prstGeom prst="rect">
            <a:avLst/>
          </a:prstGeom>
          <a:noFill/>
          <a:ln>
            <a:noFill/>
          </a:ln>
        </p:spPr>
      </p:sp>
      <p:sp>
        <p:nvSpPr>
          <p:cNvPr id="64" name="Google Shape;64;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2.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hart" Target="../charts/char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0970260" y="635"/>
            <a:ext cx="7317740" cy="10285730"/>
          </a:xfrm>
          <a:prstGeom prst="rect">
            <a:avLst/>
          </a:prstGeom>
          <a:solidFill>
            <a:srgbClr val="E5E9FF">
              <a:alpha val="5254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85" name="Google Shape;85;p1"/>
          <p:cNvGrpSpPr/>
          <p:nvPr/>
        </p:nvGrpSpPr>
        <p:grpSpPr>
          <a:xfrm>
            <a:off x="1012673" y="4401985"/>
            <a:ext cx="9144000" cy="3545200"/>
            <a:chOff x="1851" y="6536"/>
            <a:chExt cx="14400" cy="3780"/>
          </a:xfrm>
        </p:grpSpPr>
        <p:sp>
          <p:nvSpPr>
            <p:cNvPr id="86" name="Google Shape;86;p1"/>
            <p:cNvSpPr txBox="1"/>
            <p:nvPr/>
          </p:nvSpPr>
          <p:spPr>
            <a:xfrm>
              <a:off x="1851" y="6536"/>
              <a:ext cx="14400" cy="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000" u="none" cap="none" strike="noStrike">
                  <a:solidFill>
                    <a:srgbClr val="1155CC"/>
                  </a:solidFill>
                  <a:latin typeface="Leelawadee"/>
                  <a:ea typeface="Leelawadee"/>
                  <a:cs typeface="Leelawadee"/>
                  <a:sym typeface="Leelawadee"/>
                </a:rPr>
                <a:t>SOCIAL MEDIA ANALYSIS </a:t>
              </a:r>
              <a:endParaRPr b="1" sz="8000">
                <a:solidFill>
                  <a:srgbClr val="1155CC"/>
                </a:solidFill>
                <a:latin typeface="Leelawadee"/>
                <a:ea typeface="Leelawadee"/>
                <a:cs typeface="Leelawadee"/>
                <a:sym typeface="Leelawadee"/>
              </a:endParaRPr>
            </a:p>
          </p:txBody>
        </p:sp>
        <p:sp>
          <p:nvSpPr>
            <p:cNvPr id="87" name="Google Shape;87;p1"/>
            <p:cNvSpPr txBox="1"/>
            <p:nvPr/>
          </p:nvSpPr>
          <p:spPr>
            <a:xfrm>
              <a:off x="1863" y="9602"/>
              <a:ext cx="12800" cy="7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lang="en-US" sz="2800">
                  <a:solidFill>
                    <a:srgbClr val="092730"/>
                  </a:solidFill>
                  <a:latin typeface="Leelawadee"/>
                  <a:ea typeface="Leelawadee"/>
                  <a:cs typeface="Leelawadee"/>
                  <a:sym typeface="Leelawadee"/>
                </a:rPr>
                <a:t>Presented by:</a:t>
              </a:r>
              <a:r>
                <a:rPr b="1" lang="en-US" sz="2800">
                  <a:solidFill>
                    <a:srgbClr val="092730"/>
                  </a:solidFill>
                  <a:latin typeface="Leelawadee"/>
                  <a:ea typeface="Leelawadee"/>
                  <a:cs typeface="Leelawadee"/>
                  <a:sym typeface="Leelawadee"/>
                </a:rPr>
                <a:t> Nidhi Roy </a:t>
              </a:r>
              <a:r>
                <a:rPr lang="en-US" sz="2800">
                  <a:solidFill>
                    <a:srgbClr val="092730"/>
                  </a:solidFill>
                  <a:latin typeface="Leelawadee"/>
                  <a:ea typeface="Leelawadee"/>
                  <a:cs typeface="Leelawadee"/>
                  <a:sym typeface="Leelawadee"/>
                </a:rPr>
                <a:t>|</a:t>
              </a:r>
              <a:r>
                <a:rPr b="1" lang="en-US" sz="2800">
                  <a:solidFill>
                    <a:srgbClr val="092730"/>
                  </a:solidFill>
                  <a:latin typeface="Leelawadee"/>
                  <a:ea typeface="Leelawadee"/>
                  <a:cs typeface="Leelawadee"/>
                  <a:sym typeface="Leelawadee"/>
                </a:rPr>
                <a:t> </a:t>
              </a:r>
              <a:r>
                <a:rPr lang="en-US" sz="2800">
                  <a:solidFill>
                    <a:srgbClr val="092730"/>
                  </a:solidFill>
                  <a:latin typeface="Leelawadee"/>
                  <a:ea typeface="Leelawadee"/>
                  <a:cs typeface="Leelawadee"/>
                  <a:sym typeface="Leelawadee"/>
                </a:rPr>
                <a:t>Date:</a:t>
              </a:r>
              <a:r>
                <a:rPr b="1" lang="en-US" sz="2800">
                  <a:solidFill>
                    <a:srgbClr val="092730"/>
                  </a:solidFill>
                  <a:latin typeface="Leelawadee"/>
                  <a:ea typeface="Leelawadee"/>
                  <a:cs typeface="Leelawadee"/>
                  <a:sym typeface="Leelawadee"/>
                </a:rPr>
                <a:t> 14 Sep 2025</a:t>
              </a:r>
              <a:endParaRPr b="1" sz="2800">
                <a:solidFill>
                  <a:srgbClr val="092730"/>
                </a:solidFill>
                <a:latin typeface="Leelawadee"/>
                <a:ea typeface="Leelawadee"/>
                <a:cs typeface="Leelawadee"/>
                <a:sym typeface="Leelawadee"/>
              </a:endParaRPr>
            </a:p>
          </p:txBody>
        </p:sp>
      </p:grpSp>
      <p:pic>
        <p:nvPicPr>
          <p:cNvPr id="88" name="Google Shape;88;p1"/>
          <p:cNvPicPr preferRelativeResize="0"/>
          <p:nvPr/>
        </p:nvPicPr>
        <p:blipFill rotWithShape="1">
          <a:blip r:embed="rId3">
            <a:alphaModFix/>
          </a:blip>
          <a:srcRect b="0" l="0" r="0" t="0"/>
          <a:stretch/>
        </p:blipFill>
        <p:spPr>
          <a:xfrm>
            <a:off x="8153400" y="-301885"/>
            <a:ext cx="8190551" cy="46071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p:nvPr/>
        </p:nvSpPr>
        <p:spPr>
          <a:xfrm>
            <a:off x="9067800" y="2476500"/>
            <a:ext cx="9220200" cy="7813675"/>
          </a:xfrm>
          <a:prstGeom prst="rect">
            <a:avLst/>
          </a:prstGeom>
          <a:solidFill>
            <a:srgbClr val="E5E9FF">
              <a:alpha val="5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 name="Google Shape;94;p2"/>
          <p:cNvSpPr/>
          <p:nvPr/>
        </p:nvSpPr>
        <p:spPr>
          <a:xfrm>
            <a:off x="0" y="2473325"/>
            <a:ext cx="8915400" cy="7813675"/>
          </a:xfrm>
          <a:prstGeom prst="rect">
            <a:avLst/>
          </a:prstGeom>
          <a:solidFill>
            <a:srgbClr val="E5E9FF">
              <a:alpha val="52941"/>
            </a:srgbClr>
          </a:solidFill>
          <a:ln>
            <a:noFill/>
          </a:ln>
        </p:spPr>
        <p:txBody>
          <a:bodyPr anchorCtr="0" anchor="ctr"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95" name="Google Shape;95;p2"/>
          <p:cNvSpPr/>
          <p:nvPr/>
        </p:nvSpPr>
        <p:spPr>
          <a:xfrm>
            <a:off x="819785" y="446405"/>
            <a:ext cx="16439518" cy="1570990"/>
          </a:xfrm>
          <a:custGeom>
            <a:rect b="b" l="l" r="r" t="t"/>
            <a:pathLst>
              <a:path extrusionOk="0" h="806001" w="5997129">
                <a:moveTo>
                  <a:pt x="0" y="0"/>
                </a:moveTo>
                <a:lnTo>
                  <a:pt x="5997129" y="0"/>
                </a:lnTo>
                <a:lnTo>
                  <a:pt x="5997129" y="806001"/>
                </a:lnTo>
                <a:lnTo>
                  <a:pt x="0" y="806001"/>
                </a:lnTo>
                <a:close/>
              </a:path>
            </a:pathLst>
          </a:custGeom>
          <a:solidFill>
            <a:srgbClr val="FFFFFF"/>
          </a:solidFill>
          <a:ln>
            <a:noFill/>
          </a:ln>
        </p:spPr>
      </p:sp>
      <p:sp>
        <p:nvSpPr>
          <p:cNvPr id="96" name="Google Shape;96;p2"/>
          <p:cNvSpPr txBox="1"/>
          <p:nvPr/>
        </p:nvSpPr>
        <p:spPr>
          <a:xfrm>
            <a:off x="1011071" y="647700"/>
            <a:ext cx="14697900" cy="1231500"/>
          </a:xfrm>
          <a:prstGeom prst="rect">
            <a:avLst/>
          </a:prstGeom>
          <a:noFill/>
          <a:ln>
            <a:noFill/>
          </a:ln>
        </p:spPr>
        <p:txBody>
          <a:bodyPr anchorCtr="0" anchor="t" bIns="0" lIns="0" spcFirstLastPara="1" rIns="0" wrap="square" tIns="0">
            <a:spAutoFit/>
          </a:bodyPr>
          <a:lstStyle/>
          <a:p>
            <a:pPr indent="0" lvl="0" marL="0" marR="0" rtl="0" algn="l">
              <a:lnSpc>
                <a:spcPct val="128250"/>
              </a:lnSpc>
              <a:spcBef>
                <a:spcPts val="0"/>
              </a:spcBef>
              <a:spcAft>
                <a:spcPts val="0"/>
              </a:spcAft>
              <a:buNone/>
            </a:pPr>
            <a:r>
              <a:rPr b="1" lang="en-US" sz="8000">
                <a:solidFill>
                  <a:srgbClr val="1155CC"/>
                </a:solidFill>
                <a:latin typeface="Leelawadee"/>
                <a:ea typeface="Leelawadee"/>
                <a:cs typeface="Leelawadee"/>
                <a:sym typeface="Leelawadee"/>
              </a:rPr>
              <a:t>Table of Content</a:t>
            </a:r>
            <a:endParaRPr b="1" sz="8000">
              <a:solidFill>
                <a:srgbClr val="1155CC"/>
              </a:solidFill>
              <a:latin typeface="Leelawadee"/>
              <a:ea typeface="Leelawadee"/>
              <a:cs typeface="Leelawadee"/>
              <a:sym typeface="Leelawadee"/>
            </a:endParaRPr>
          </a:p>
        </p:txBody>
      </p:sp>
      <p:sp>
        <p:nvSpPr>
          <p:cNvPr id="97" name="Google Shape;97;p2"/>
          <p:cNvSpPr txBox="1"/>
          <p:nvPr/>
        </p:nvSpPr>
        <p:spPr>
          <a:xfrm>
            <a:off x="1066801" y="3771900"/>
            <a:ext cx="6690994" cy="5029200"/>
          </a:xfrm>
          <a:prstGeom prst="rect">
            <a:avLst/>
          </a:prstGeom>
          <a:noFill/>
          <a:ln>
            <a:noFill/>
          </a:ln>
        </p:spPr>
        <p:txBody>
          <a:bodyPr anchorCtr="0" anchor="t" bIns="45700" lIns="91425" spcFirstLastPara="1" rIns="91425" wrap="square" tIns="45700">
            <a:noAutofit/>
          </a:bodyPr>
          <a:lstStyle/>
          <a:p>
            <a:pPr indent="-520700" lvl="0" marL="457200" marR="0" rtl="0" algn="l">
              <a:lnSpc>
                <a:spcPct val="107029"/>
              </a:lnSpc>
              <a:spcBef>
                <a:spcPts val="0"/>
              </a:spcBef>
              <a:spcAft>
                <a:spcPts val="0"/>
              </a:spcAft>
              <a:buClr>
                <a:schemeClr val="dk1"/>
              </a:buClr>
              <a:buSzPts val="3000"/>
              <a:buFont typeface="Noto Sans Symbols"/>
              <a:buChar char="❖"/>
            </a:pPr>
            <a:r>
              <a:rPr b="1" lang="en-US" sz="3000">
                <a:solidFill>
                  <a:schemeClr val="dk1"/>
                </a:solidFill>
                <a:latin typeface="Leelawadee"/>
                <a:ea typeface="Leelawadee"/>
                <a:cs typeface="Leelawadee"/>
                <a:sym typeface="Leelawadee"/>
              </a:rPr>
              <a:t>About Meta</a:t>
            </a:r>
            <a:endParaRPr sz="3000"/>
          </a:p>
          <a:p>
            <a:pPr indent="-330200" lvl="0" marL="457200" marR="0" rtl="0" algn="l">
              <a:lnSpc>
                <a:spcPct val="107029"/>
              </a:lnSpc>
              <a:spcBef>
                <a:spcPts val="0"/>
              </a:spcBef>
              <a:spcAft>
                <a:spcPts val="0"/>
              </a:spcAft>
              <a:buClr>
                <a:schemeClr val="dk1"/>
              </a:buClr>
              <a:buSzPts val="2000"/>
              <a:buFont typeface="Noto Sans Symbols"/>
              <a:buNone/>
            </a:pPr>
            <a:r>
              <a:t/>
            </a:r>
            <a:endParaRPr b="1" sz="3000">
              <a:solidFill>
                <a:schemeClr val="dk1"/>
              </a:solidFill>
              <a:latin typeface="Leelawadee"/>
              <a:ea typeface="Leelawadee"/>
              <a:cs typeface="Leelawadee"/>
              <a:sym typeface="Leelawadee"/>
            </a:endParaRPr>
          </a:p>
          <a:p>
            <a:pPr indent="-520700" lvl="0" marL="457200" marR="0" rtl="0" algn="l">
              <a:lnSpc>
                <a:spcPct val="107029"/>
              </a:lnSpc>
              <a:spcBef>
                <a:spcPts val="0"/>
              </a:spcBef>
              <a:spcAft>
                <a:spcPts val="0"/>
              </a:spcAft>
              <a:buClr>
                <a:schemeClr val="dk1"/>
              </a:buClr>
              <a:buSzPts val="3000"/>
              <a:buFont typeface="Noto Sans Symbols"/>
              <a:buChar char="❖"/>
            </a:pPr>
            <a:r>
              <a:rPr b="1" lang="en-US" sz="3000">
                <a:solidFill>
                  <a:schemeClr val="dk1"/>
                </a:solidFill>
                <a:latin typeface="Leelawadee"/>
                <a:ea typeface="Leelawadee"/>
                <a:cs typeface="Leelawadee"/>
                <a:sym typeface="Leelawadee"/>
              </a:rPr>
              <a:t>Problem Statement</a:t>
            </a:r>
            <a:endParaRPr sz="3000"/>
          </a:p>
          <a:p>
            <a:pPr indent="-330200" lvl="0" marL="457200" marR="0" rtl="0" algn="l">
              <a:lnSpc>
                <a:spcPct val="107029"/>
              </a:lnSpc>
              <a:spcBef>
                <a:spcPts val="0"/>
              </a:spcBef>
              <a:spcAft>
                <a:spcPts val="0"/>
              </a:spcAft>
              <a:buClr>
                <a:schemeClr val="dk1"/>
              </a:buClr>
              <a:buSzPts val="2000"/>
              <a:buFont typeface="Noto Sans Symbols"/>
              <a:buNone/>
            </a:pPr>
            <a:r>
              <a:t/>
            </a:r>
            <a:endParaRPr b="1" sz="3000">
              <a:solidFill>
                <a:schemeClr val="dk1"/>
              </a:solidFill>
              <a:latin typeface="Leelawadee"/>
              <a:ea typeface="Leelawadee"/>
              <a:cs typeface="Leelawadee"/>
              <a:sym typeface="Leelawadee"/>
            </a:endParaRPr>
          </a:p>
          <a:p>
            <a:pPr indent="-520700" lvl="0" marL="457200" marR="0" rtl="0" algn="l">
              <a:lnSpc>
                <a:spcPct val="107029"/>
              </a:lnSpc>
              <a:spcBef>
                <a:spcPts val="0"/>
              </a:spcBef>
              <a:spcAft>
                <a:spcPts val="0"/>
              </a:spcAft>
              <a:buClr>
                <a:schemeClr val="dk1"/>
              </a:buClr>
              <a:buSzPts val="3000"/>
              <a:buFont typeface="Noto Sans Symbols"/>
              <a:buChar char="❖"/>
            </a:pPr>
            <a:r>
              <a:rPr b="1" lang="en-US" sz="3000">
                <a:solidFill>
                  <a:schemeClr val="dk1"/>
                </a:solidFill>
                <a:latin typeface="Leelawadee"/>
                <a:ea typeface="Leelawadee"/>
                <a:cs typeface="Leelawadee"/>
                <a:sym typeface="Leelawadee"/>
              </a:rPr>
              <a:t>Design Schema</a:t>
            </a:r>
            <a:endParaRPr b="1" sz="3000">
              <a:solidFill>
                <a:schemeClr val="dk1"/>
              </a:solidFill>
              <a:latin typeface="Leelawadee"/>
              <a:ea typeface="Leelawadee"/>
              <a:cs typeface="Leelawadee"/>
              <a:sym typeface="Leelawadee"/>
            </a:endParaRPr>
          </a:p>
          <a:p>
            <a:pPr indent="-330200" lvl="0" marL="457200" marR="0" rtl="0" algn="l">
              <a:lnSpc>
                <a:spcPct val="107029"/>
              </a:lnSpc>
              <a:spcBef>
                <a:spcPts val="0"/>
              </a:spcBef>
              <a:spcAft>
                <a:spcPts val="0"/>
              </a:spcAft>
              <a:buClr>
                <a:schemeClr val="dk1"/>
              </a:buClr>
              <a:buSzPts val="2000"/>
              <a:buFont typeface="Noto Sans Symbols"/>
              <a:buNone/>
            </a:pPr>
            <a:r>
              <a:t/>
            </a:r>
            <a:endParaRPr b="1" sz="3000">
              <a:solidFill>
                <a:schemeClr val="dk1"/>
              </a:solidFill>
              <a:latin typeface="Leelawadee"/>
              <a:ea typeface="Leelawadee"/>
              <a:cs typeface="Leelawadee"/>
              <a:sym typeface="Leelawadee"/>
            </a:endParaRPr>
          </a:p>
          <a:p>
            <a:pPr indent="-520700" lvl="0" marL="457200" marR="0" rtl="0" algn="l">
              <a:lnSpc>
                <a:spcPct val="107029"/>
              </a:lnSpc>
              <a:spcBef>
                <a:spcPts val="0"/>
              </a:spcBef>
              <a:spcAft>
                <a:spcPts val="0"/>
              </a:spcAft>
              <a:buClr>
                <a:schemeClr val="dk1"/>
              </a:buClr>
              <a:buSzPts val="3000"/>
              <a:buFont typeface="Noto Sans Symbols"/>
              <a:buChar char="❖"/>
            </a:pPr>
            <a:r>
              <a:rPr b="1" lang="en-US" sz="3000">
                <a:solidFill>
                  <a:schemeClr val="dk1"/>
                </a:solidFill>
                <a:latin typeface="Leelawadee"/>
                <a:ea typeface="Leelawadee"/>
                <a:cs typeface="Leelawadee"/>
                <a:sym typeface="Leelawadee"/>
              </a:rPr>
              <a:t>Data Overview</a:t>
            </a:r>
            <a:endParaRPr sz="3000"/>
          </a:p>
          <a:p>
            <a:pPr indent="-330200" lvl="0" marL="457200" marR="0" rtl="0" algn="l">
              <a:lnSpc>
                <a:spcPct val="107029"/>
              </a:lnSpc>
              <a:spcBef>
                <a:spcPts val="0"/>
              </a:spcBef>
              <a:spcAft>
                <a:spcPts val="0"/>
              </a:spcAft>
              <a:buClr>
                <a:schemeClr val="dk1"/>
              </a:buClr>
              <a:buSzPts val="2000"/>
              <a:buFont typeface="Noto Sans Symbols"/>
              <a:buNone/>
            </a:pPr>
            <a:r>
              <a:t/>
            </a:r>
            <a:endParaRPr b="1" sz="3000">
              <a:solidFill>
                <a:schemeClr val="dk1"/>
              </a:solidFill>
              <a:latin typeface="Leelawadee"/>
              <a:ea typeface="Leelawadee"/>
              <a:cs typeface="Leelawadee"/>
              <a:sym typeface="Leelawadee"/>
            </a:endParaRPr>
          </a:p>
          <a:p>
            <a:pPr indent="-520700" lvl="0" marL="457200" marR="0" rtl="0" algn="l">
              <a:lnSpc>
                <a:spcPct val="107029"/>
              </a:lnSpc>
              <a:spcBef>
                <a:spcPts val="0"/>
              </a:spcBef>
              <a:spcAft>
                <a:spcPts val="0"/>
              </a:spcAft>
              <a:buClr>
                <a:schemeClr val="dk1"/>
              </a:buClr>
              <a:buSzPts val="3000"/>
              <a:buFont typeface="Noto Sans Symbols"/>
              <a:buChar char="❖"/>
            </a:pPr>
            <a:r>
              <a:rPr b="1" lang="en-US" sz="3000">
                <a:solidFill>
                  <a:schemeClr val="dk1"/>
                </a:solidFill>
                <a:latin typeface="Leelawadee"/>
                <a:ea typeface="Leelawadee"/>
                <a:cs typeface="Leelawadee"/>
                <a:sym typeface="Leelawadee"/>
              </a:rPr>
              <a:t>Approach</a:t>
            </a:r>
            <a:endParaRPr b="1" sz="3000">
              <a:solidFill>
                <a:schemeClr val="dk1"/>
              </a:solidFill>
              <a:latin typeface="Leelawadee"/>
              <a:ea typeface="Leelawadee"/>
              <a:cs typeface="Leelawadee"/>
              <a:sym typeface="Leelawadee"/>
            </a:endParaRPr>
          </a:p>
        </p:txBody>
      </p:sp>
      <p:sp>
        <p:nvSpPr>
          <p:cNvPr id="98" name="Google Shape;98;p2"/>
          <p:cNvSpPr txBox="1"/>
          <p:nvPr/>
        </p:nvSpPr>
        <p:spPr>
          <a:xfrm>
            <a:off x="9906000" y="3771900"/>
            <a:ext cx="7086600" cy="5029200"/>
          </a:xfrm>
          <a:prstGeom prst="rect">
            <a:avLst/>
          </a:prstGeom>
          <a:noFill/>
          <a:ln>
            <a:noFill/>
          </a:ln>
        </p:spPr>
        <p:txBody>
          <a:bodyPr anchorCtr="0" anchor="t" bIns="45700" lIns="91425" spcFirstLastPara="1" rIns="91425" wrap="square" tIns="45700">
            <a:noAutofit/>
          </a:bodyPr>
          <a:lstStyle/>
          <a:p>
            <a:pPr indent="-520700" lvl="0" marL="457200" marR="0" rtl="0" algn="l">
              <a:lnSpc>
                <a:spcPct val="107029"/>
              </a:lnSpc>
              <a:spcBef>
                <a:spcPts val="0"/>
              </a:spcBef>
              <a:spcAft>
                <a:spcPts val="0"/>
              </a:spcAft>
              <a:buClr>
                <a:schemeClr val="dk1"/>
              </a:buClr>
              <a:buSzPts val="3000"/>
              <a:buFont typeface="Noto Sans Symbols"/>
              <a:buChar char="❖"/>
            </a:pPr>
            <a:r>
              <a:rPr b="1" lang="en-US" sz="3000">
                <a:solidFill>
                  <a:schemeClr val="dk1"/>
                </a:solidFill>
                <a:latin typeface="Leelawadee"/>
                <a:ea typeface="Leelawadee"/>
                <a:cs typeface="Leelawadee"/>
                <a:sym typeface="Leelawadee"/>
              </a:rPr>
              <a:t>User Engagement Distribution</a:t>
            </a:r>
            <a:endParaRPr sz="3000"/>
          </a:p>
          <a:p>
            <a:pPr indent="0" lvl="0" marL="0" marR="0" rtl="0" algn="l">
              <a:lnSpc>
                <a:spcPct val="107029"/>
              </a:lnSpc>
              <a:spcBef>
                <a:spcPts val="0"/>
              </a:spcBef>
              <a:spcAft>
                <a:spcPts val="0"/>
              </a:spcAft>
              <a:buNone/>
            </a:pPr>
            <a:r>
              <a:t/>
            </a:r>
            <a:endParaRPr b="1" sz="3000">
              <a:solidFill>
                <a:schemeClr val="dk1"/>
              </a:solidFill>
              <a:latin typeface="Leelawadee"/>
              <a:ea typeface="Leelawadee"/>
              <a:cs typeface="Leelawadee"/>
              <a:sym typeface="Leelawadee"/>
            </a:endParaRPr>
          </a:p>
          <a:p>
            <a:pPr indent="-520700" lvl="0" marL="457200" marR="0" rtl="0" algn="l">
              <a:lnSpc>
                <a:spcPct val="107029"/>
              </a:lnSpc>
              <a:spcBef>
                <a:spcPts val="0"/>
              </a:spcBef>
              <a:spcAft>
                <a:spcPts val="0"/>
              </a:spcAft>
              <a:buClr>
                <a:schemeClr val="dk1"/>
              </a:buClr>
              <a:buSzPts val="3000"/>
              <a:buFont typeface="Noto Sans Symbols"/>
              <a:buChar char="❖"/>
            </a:pPr>
            <a:r>
              <a:rPr b="1" lang="en-US" sz="3000">
                <a:solidFill>
                  <a:schemeClr val="dk1"/>
                </a:solidFill>
                <a:latin typeface="Leelawadee"/>
                <a:ea typeface="Leelawadee"/>
                <a:cs typeface="Leelawadee"/>
                <a:sym typeface="Leelawadee"/>
              </a:rPr>
              <a:t>User Activity</a:t>
            </a:r>
            <a:endParaRPr sz="3000"/>
          </a:p>
          <a:p>
            <a:pPr indent="-330200" lvl="0" marL="457200" marR="0" rtl="0" algn="l">
              <a:lnSpc>
                <a:spcPct val="107029"/>
              </a:lnSpc>
              <a:spcBef>
                <a:spcPts val="0"/>
              </a:spcBef>
              <a:spcAft>
                <a:spcPts val="0"/>
              </a:spcAft>
              <a:buClr>
                <a:schemeClr val="dk1"/>
              </a:buClr>
              <a:buSzPts val="2000"/>
              <a:buFont typeface="Noto Sans Symbols"/>
              <a:buNone/>
            </a:pPr>
            <a:r>
              <a:t/>
            </a:r>
            <a:endParaRPr b="1" sz="3000">
              <a:solidFill>
                <a:schemeClr val="dk1"/>
              </a:solidFill>
              <a:latin typeface="Leelawadee"/>
              <a:ea typeface="Leelawadee"/>
              <a:cs typeface="Leelawadee"/>
              <a:sym typeface="Leelawadee"/>
            </a:endParaRPr>
          </a:p>
          <a:p>
            <a:pPr indent="-520700" lvl="0" marL="457200" marR="0" rtl="0" algn="l">
              <a:lnSpc>
                <a:spcPct val="107029"/>
              </a:lnSpc>
              <a:spcBef>
                <a:spcPts val="0"/>
              </a:spcBef>
              <a:spcAft>
                <a:spcPts val="0"/>
              </a:spcAft>
              <a:buClr>
                <a:schemeClr val="dk1"/>
              </a:buClr>
              <a:buSzPts val="3000"/>
              <a:buFont typeface="Noto Sans Symbols"/>
              <a:buChar char="❖"/>
            </a:pPr>
            <a:r>
              <a:rPr b="1" lang="en-US" sz="3000">
                <a:solidFill>
                  <a:schemeClr val="dk1"/>
                </a:solidFill>
                <a:latin typeface="Leelawadee"/>
                <a:ea typeface="Leelawadee"/>
                <a:cs typeface="Leelawadee"/>
                <a:sym typeface="Leelawadee"/>
              </a:rPr>
              <a:t>Hashtags vs Engagement</a:t>
            </a:r>
            <a:endParaRPr sz="3000"/>
          </a:p>
          <a:p>
            <a:pPr indent="-330200" lvl="0" marL="457200" marR="0" rtl="0" algn="l">
              <a:lnSpc>
                <a:spcPct val="107029"/>
              </a:lnSpc>
              <a:spcBef>
                <a:spcPts val="0"/>
              </a:spcBef>
              <a:spcAft>
                <a:spcPts val="0"/>
              </a:spcAft>
              <a:buClr>
                <a:schemeClr val="dk1"/>
              </a:buClr>
              <a:buSzPts val="2000"/>
              <a:buFont typeface="Noto Sans Symbols"/>
              <a:buNone/>
            </a:pPr>
            <a:r>
              <a:t/>
            </a:r>
            <a:endParaRPr b="1" sz="3000">
              <a:solidFill>
                <a:schemeClr val="dk1"/>
              </a:solidFill>
              <a:latin typeface="Leelawadee"/>
              <a:ea typeface="Leelawadee"/>
              <a:cs typeface="Leelawadee"/>
              <a:sym typeface="Leelawadee"/>
            </a:endParaRPr>
          </a:p>
          <a:p>
            <a:pPr indent="-520700" lvl="0" marL="457200" marR="0" rtl="0" algn="l">
              <a:lnSpc>
                <a:spcPct val="107029"/>
              </a:lnSpc>
              <a:spcBef>
                <a:spcPts val="0"/>
              </a:spcBef>
              <a:spcAft>
                <a:spcPts val="0"/>
              </a:spcAft>
              <a:buClr>
                <a:schemeClr val="dk1"/>
              </a:buClr>
              <a:buSzPts val="3000"/>
              <a:buFont typeface="Noto Sans Symbols"/>
              <a:buChar char="❖"/>
            </a:pPr>
            <a:r>
              <a:rPr b="1" lang="en-US" sz="3000">
                <a:solidFill>
                  <a:schemeClr val="dk1"/>
                </a:solidFill>
                <a:latin typeface="Leelawadee"/>
                <a:ea typeface="Leelawadee"/>
                <a:cs typeface="Leelawadee"/>
                <a:sym typeface="Leelawadee"/>
              </a:rPr>
              <a:t>Recommendation </a:t>
            </a:r>
            <a:endParaRPr sz="3000"/>
          </a:p>
          <a:p>
            <a:pPr indent="-330200" lvl="0" marL="457200" marR="0" rtl="0" algn="l">
              <a:lnSpc>
                <a:spcPct val="107029"/>
              </a:lnSpc>
              <a:spcBef>
                <a:spcPts val="0"/>
              </a:spcBef>
              <a:spcAft>
                <a:spcPts val="0"/>
              </a:spcAft>
              <a:buClr>
                <a:schemeClr val="dk1"/>
              </a:buClr>
              <a:buSzPts val="2000"/>
              <a:buFont typeface="Noto Sans Symbols"/>
              <a:buNone/>
            </a:pPr>
            <a:r>
              <a:t/>
            </a:r>
            <a:endParaRPr b="1" sz="3000">
              <a:solidFill>
                <a:schemeClr val="dk1"/>
              </a:solidFill>
              <a:latin typeface="Leelawadee"/>
              <a:ea typeface="Leelawadee"/>
              <a:cs typeface="Leelawadee"/>
              <a:sym typeface="Leelawadee"/>
            </a:endParaRPr>
          </a:p>
          <a:p>
            <a:pPr indent="-520700" lvl="0" marL="457200" marR="0" rtl="0" algn="l">
              <a:lnSpc>
                <a:spcPct val="107029"/>
              </a:lnSpc>
              <a:spcBef>
                <a:spcPts val="0"/>
              </a:spcBef>
              <a:spcAft>
                <a:spcPts val="0"/>
              </a:spcAft>
              <a:buClr>
                <a:schemeClr val="dk1"/>
              </a:buClr>
              <a:buSzPts val="3000"/>
              <a:buFont typeface="Noto Sans Symbols"/>
              <a:buChar char="❖"/>
            </a:pPr>
            <a:r>
              <a:rPr b="1" lang="en-US" sz="3000">
                <a:solidFill>
                  <a:schemeClr val="dk1"/>
                </a:solidFill>
                <a:latin typeface="Leelawadee"/>
                <a:ea typeface="Leelawadee"/>
                <a:cs typeface="Leelawadee"/>
                <a:sym typeface="Leelawadee"/>
              </a:rPr>
              <a:t>Conclusion</a:t>
            </a:r>
            <a:endParaRPr b="1" sz="3000">
              <a:solidFill>
                <a:schemeClr val="dk1"/>
              </a:solidFill>
              <a:latin typeface="Leelawadee"/>
              <a:ea typeface="Leelawadee"/>
              <a:cs typeface="Leelawadee"/>
              <a:sym typeface="Leelawade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p:nvPr/>
        </p:nvSpPr>
        <p:spPr>
          <a:xfrm>
            <a:off x="0" y="2473325"/>
            <a:ext cx="18288000" cy="7813675"/>
          </a:xfrm>
          <a:prstGeom prst="rect">
            <a:avLst/>
          </a:prstGeom>
          <a:solidFill>
            <a:srgbClr val="E5E9FF">
              <a:alpha val="52941"/>
            </a:srgbClr>
          </a:solidFill>
          <a:ln>
            <a:noFill/>
          </a:ln>
        </p:spPr>
        <p:txBody>
          <a:bodyPr anchorCtr="0" anchor="ctr"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04" name="Google Shape;104;p3"/>
          <p:cNvSpPr/>
          <p:nvPr/>
        </p:nvSpPr>
        <p:spPr>
          <a:xfrm>
            <a:off x="819785" y="446405"/>
            <a:ext cx="16439518" cy="1570990"/>
          </a:xfrm>
          <a:custGeom>
            <a:rect b="b" l="l" r="r" t="t"/>
            <a:pathLst>
              <a:path extrusionOk="0" h="806001" w="5997129">
                <a:moveTo>
                  <a:pt x="0" y="0"/>
                </a:moveTo>
                <a:lnTo>
                  <a:pt x="5997129" y="0"/>
                </a:lnTo>
                <a:lnTo>
                  <a:pt x="5997129" y="806001"/>
                </a:lnTo>
                <a:lnTo>
                  <a:pt x="0" y="806001"/>
                </a:lnTo>
                <a:close/>
              </a:path>
            </a:pathLst>
          </a:custGeom>
          <a:solidFill>
            <a:srgbClr val="FFFFFF"/>
          </a:solidFill>
          <a:ln>
            <a:noFill/>
          </a:ln>
        </p:spPr>
      </p:sp>
      <p:sp>
        <p:nvSpPr>
          <p:cNvPr id="105" name="Google Shape;105;p3"/>
          <p:cNvSpPr txBox="1"/>
          <p:nvPr/>
        </p:nvSpPr>
        <p:spPr>
          <a:xfrm>
            <a:off x="992992" y="647700"/>
            <a:ext cx="146979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About Meta</a:t>
            </a:r>
            <a:endParaRPr b="1" sz="9600">
              <a:solidFill>
                <a:srgbClr val="1155CC"/>
              </a:solidFill>
              <a:latin typeface="Leelawadee"/>
              <a:ea typeface="Leelawadee"/>
              <a:cs typeface="Leelawadee"/>
              <a:sym typeface="Leelawadee"/>
            </a:endParaRPr>
          </a:p>
        </p:txBody>
      </p:sp>
      <p:sp>
        <p:nvSpPr>
          <p:cNvPr id="106" name="Google Shape;106;p3"/>
          <p:cNvSpPr txBox="1"/>
          <p:nvPr/>
        </p:nvSpPr>
        <p:spPr>
          <a:xfrm>
            <a:off x="899800" y="3858075"/>
            <a:ext cx="13959300" cy="56307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US" sz="2800">
                <a:solidFill>
                  <a:schemeClr val="dk1"/>
                </a:solidFill>
                <a:latin typeface="Leelawadee"/>
                <a:ea typeface="Leelawadee"/>
                <a:cs typeface="Leelawadee"/>
                <a:sym typeface="Leelawadee"/>
              </a:rPr>
              <a:t>Meta</a:t>
            </a:r>
            <a:r>
              <a:rPr lang="en-US" sz="2800">
                <a:solidFill>
                  <a:schemeClr val="dk1"/>
                </a:solidFill>
                <a:latin typeface="Leelawadee"/>
                <a:ea typeface="Leelawadee"/>
                <a:cs typeface="Leelawadee"/>
                <a:sym typeface="Leelawadee"/>
              </a:rPr>
              <a:t>, formerly known as Facebook, is a technology company founded by </a:t>
            </a:r>
            <a:r>
              <a:rPr b="1" lang="en-US" sz="2800">
                <a:solidFill>
                  <a:schemeClr val="dk1"/>
                </a:solidFill>
                <a:latin typeface="Leelawadee"/>
                <a:ea typeface="Leelawadee"/>
                <a:cs typeface="Leelawadee"/>
                <a:sym typeface="Leelawadee"/>
              </a:rPr>
              <a:t>Mark Zuckerberg in 2004</a:t>
            </a:r>
            <a:r>
              <a:rPr lang="en-US" sz="2800">
                <a:solidFill>
                  <a:schemeClr val="dk1"/>
                </a:solidFill>
                <a:latin typeface="Leelawadee"/>
                <a:ea typeface="Leelawadee"/>
                <a:cs typeface="Leelawadee"/>
                <a:sym typeface="Leelawadee"/>
              </a:rPr>
              <a:t>. It rebranded to Meta in October 2021 to emphasize its focus on building the "</a:t>
            </a:r>
            <a:r>
              <a:rPr b="1" lang="en-US" sz="2800">
                <a:solidFill>
                  <a:schemeClr val="dk1"/>
                </a:solidFill>
                <a:latin typeface="Leelawadee"/>
                <a:ea typeface="Leelawadee"/>
                <a:cs typeface="Leelawadee"/>
                <a:sym typeface="Leelawadee"/>
              </a:rPr>
              <a:t>metaverse</a:t>
            </a:r>
            <a:r>
              <a:rPr lang="en-US" sz="2800">
                <a:solidFill>
                  <a:schemeClr val="dk1"/>
                </a:solidFill>
                <a:latin typeface="Leelawadee"/>
                <a:ea typeface="Leelawadee"/>
                <a:cs typeface="Leelawadee"/>
                <a:sym typeface="Leelawadee"/>
              </a:rPr>
              <a:t>," a virtual reality space where users can interact in a shared, immersive environment. Meta's ecosystem includes social media platforms like </a:t>
            </a:r>
            <a:r>
              <a:rPr b="1" lang="en-US" sz="2800">
                <a:solidFill>
                  <a:schemeClr val="dk1"/>
                </a:solidFill>
                <a:latin typeface="Leelawadee"/>
                <a:ea typeface="Leelawadee"/>
                <a:cs typeface="Leelawadee"/>
                <a:sym typeface="Leelawadee"/>
              </a:rPr>
              <a:t>Facebook, Instagram, and WhatsApp</a:t>
            </a:r>
            <a:r>
              <a:rPr lang="en-US" sz="2800">
                <a:solidFill>
                  <a:schemeClr val="dk1"/>
                </a:solidFill>
                <a:latin typeface="Leelawadee"/>
                <a:ea typeface="Leelawadee"/>
                <a:cs typeface="Leelawadee"/>
                <a:sym typeface="Leelawadee"/>
              </a:rPr>
              <a:t>, as well as technologies for augmented and virtual reality, such as Oculus. The company's vision is to create a new digital frontier where people can connect, work, and play in </a:t>
            </a:r>
            <a:r>
              <a:rPr b="1" lang="en-US" sz="2800">
                <a:solidFill>
                  <a:schemeClr val="dk1"/>
                </a:solidFill>
                <a:latin typeface="Leelawadee"/>
                <a:ea typeface="Leelawadee"/>
                <a:cs typeface="Leelawadee"/>
                <a:sym typeface="Leelawadee"/>
              </a:rPr>
              <a:t>virtual worlds </a:t>
            </a:r>
            <a:r>
              <a:rPr lang="en-US" sz="2800">
                <a:solidFill>
                  <a:schemeClr val="dk1"/>
                </a:solidFill>
                <a:latin typeface="Leelawadee"/>
                <a:ea typeface="Leelawadee"/>
                <a:cs typeface="Leelawadee"/>
                <a:sym typeface="Leelawadee"/>
              </a:rPr>
              <a:t>that blend seamlessly with the physical world.</a:t>
            </a:r>
            <a:endParaRPr sz="2800">
              <a:solidFill>
                <a:schemeClr val="dk1"/>
              </a:solidFill>
              <a:latin typeface="Leelawadee"/>
              <a:ea typeface="Leelawadee"/>
              <a:cs typeface="Leelawadee"/>
              <a:sym typeface="Leelawadee"/>
            </a:endParaRPr>
          </a:p>
        </p:txBody>
      </p:sp>
      <p:pic>
        <p:nvPicPr>
          <p:cNvPr id="107" name="Google Shape;107;p3"/>
          <p:cNvPicPr preferRelativeResize="0"/>
          <p:nvPr/>
        </p:nvPicPr>
        <p:blipFill rotWithShape="1">
          <a:blip r:embed="rId3">
            <a:alphaModFix/>
          </a:blip>
          <a:srcRect b="0" l="0" r="0" t="0"/>
          <a:stretch/>
        </p:blipFill>
        <p:spPr>
          <a:xfrm>
            <a:off x="15456572" y="2915654"/>
            <a:ext cx="1806742" cy="1806742"/>
          </a:xfrm>
          <a:prstGeom prst="rect">
            <a:avLst/>
          </a:prstGeom>
          <a:noFill/>
          <a:ln>
            <a:noFill/>
          </a:ln>
        </p:spPr>
      </p:pic>
      <p:pic>
        <p:nvPicPr>
          <p:cNvPr id="108" name="Google Shape;108;p3"/>
          <p:cNvPicPr preferRelativeResize="0"/>
          <p:nvPr/>
        </p:nvPicPr>
        <p:blipFill rotWithShape="1">
          <a:blip r:embed="rId4">
            <a:alphaModFix/>
          </a:blip>
          <a:srcRect b="0" l="0" r="0" t="0"/>
          <a:stretch/>
        </p:blipFill>
        <p:spPr>
          <a:xfrm>
            <a:off x="15591517" y="7884185"/>
            <a:ext cx="1586573" cy="1586573"/>
          </a:xfrm>
          <a:prstGeom prst="rect">
            <a:avLst/>
          </a:prstGeom>
          <a:noFill/>
          <a:ln>
            <a:noFill/>
          </a:ln>
        </p:spPr>
      </p:pic>
      <p:pic>
        <p:nvPicPr>
          <p:cNvPr id="109" name="Google Shape;109;p3"/>
          <p:cNvPicPr preferRelativeResize="0"/>
          <p:nvPr/>
        </p:nvPicPr>
        <p:blipFill rotWithShape="1">
          <a:blip r:embed="rId5">
            <a:alphaModFix/>
          </a:blip>
          <a:srcRect b="0" l="0" r="0" t="0"/>
          <a:stretch/>
        </p:blipFill>
        <p:spPr>
          <a:xfrm>
            <a:off x="15473437" y="5414012"/>
            <a:ext cx="1623852" cy="16238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p:nvPr/>
        </p:nvSpPr>
        <p:spPr>
          <a:xfrm>
            <a:off x="0" y="2473325"/>
            <a:ext cx="18288000" cy="7813675"/>
          </a:xfrm>
          <a:prstGeom prst="rect">
            <a:avLst/>
          </a:prstGeom>
          <a:solidFill>
            <a:srgbClr val="E5E9FF">
              <a:alpha val="52941"/>
            </a:srgbClr>
          </a:solidFill>
          <a:ln>
            <a:noFill/>
          </a:ln>
        </p:spPr>
        <p:txBody>
          <a:bodyPr anchorCtr="0" anchor="ctr"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15" name="Google Shape;115;p4"/>
          <p:cNvSpPr/>
          <p:nvPr/>
        </p:nvSpPr>
        <p:spPr>
          <a:xfrm>
            <a:off x="819785" y="446405"/>
            <a:ext cx="16439518" cy="1570990"/>
          </a:xfrm>
          <a:custGeom>
            <a:rect b="b" l="l" r="r" t="t"/>
            <a:pathLst>
              <a:path extrusionOk="0" h="806001" w="5997129">
                <a:moveTo>
                  <a:pt x="0" y="0"/>
                </a:moveTo>
                <a:lnTo>
                  <a:pt x="5997129" y="0"/>
                </a:lnTo>
                <a:lnTo>
                  <a:pt x="5997129" y="806001"/>
                </a:lnTo>
                <a:lnTo>
                  <a:pt x="0" y="806001"/>
                </a:lnTo>
                <a:close/>
              </a:path>
            </a:pathLst>
          </a:custGeom>
          <a:solidFill>
            <a:srgbClr val="FFFFFF"/>
          </a:solidFill>
          <a:ln>
            <a:noFill/>
          </a:ln>
        </p:spPr>
      </p:sp>
      <p:sp>
        <p:nvSpPr>
          <p:cNvPr id="116" name="Google Shape;116;p4"/>
          <p:cNvSpPr txBox="1"/>
          <p:nvPr/>
        </p:nvSpPr>
        <p:spPr>
          <a:xfrm>
            <a:off x="920674" y="647700"/>
            <a:ext cx="146979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Problem Statement</a:t>
            </a:r>
            <a:endParaRPr/>
          </a:p>
        </p:txBody>
      </p:sp>
      <p:sp>
        <p:nvSpPr>
          <p:cNvPr id="117" name="Google Shape;117;p4"/>
          <p:cNvSpPr txBox="1"/>
          <p:nvPr/>
        </p:nvSpPr>
        <p:spPr>
          <a:xfrm>
            <a:off x="4343400" y="4558800"/>
            <a:ext cx="12915900" cy="3785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2800">
                <a:solidFill>
                  <a:schemeClr val="dk1"/>
                </a:solidFill>
                <a:latin typeface="Leelawadee"/>
                <a:ea typeface="Leelawadee"/>
                <a:cs typeface="Leelawadee"/>
                <a:sym typeface="Leelawadee"/>
              </a:rPr>
              <a:t>You are hired as a </a:t>
            </a:r>
            <a:r>
              <a:rPr b="1" lang="en-US" sz="2800">
                <a:solidFill>
                  <a:schemeClr val="dk1"/>
                </a:solidFill>
                <a:latin typeface="Leelawadee"/>
                <a:ea typeface="Leelawadee"/>
                <a:cs typeface="Leelawadee"/>
                <a:sym typeface="Leelawadee"/>
              </a:rPr>
              <a:t>data analyst </a:t>
            </a:r>
            <a:r>
              <a:rPr lang="en-US" sz="2800">
                <a:solidFill>
                  <a:schemeClr val="dk1"/>
                </a:solidFill>
                <a:latin typeface="Leelawadee"/>
                <a:ea typeface="Leelawadee"/>
                <a:cs typeface="Leelawadee"/>
                <a:sym typeface="Leelawadee"/>
              </a:rPr>
              <a:t>at Meta and asked to collaborate with the Marketing team. Marketing teams want to leverage Instagram's user data to develop targeted marketing strategies that will increase user engagement, retention, and acquisition. Provide insights and recommendations to address the following objectives.</a:t>
            </a:r>
            <a:endParaRPr sz="2800">
              <a:solidFill>
                <a:schemeClr val="dk1"/>
              </a:solidFill>
              <a:latin typeface="Leelawadee"/>
              <a:ea typeface="Leelawadee"/>
              <a:cs typeface="Leelawadee"/>
              <a:sym typeface="Leelawadee"/>
            </a:endParaRPr>
          </a:p>
        </p:txBody>
      </p:sp>
      <p:pic>
        <p:nvPicPr>
          <p:cNvPr id="118" name="Google Shape;118;p4"/>
          <p:cNvPicPr preferRelativeResize="0"/>
          <p:nvPr/>
        </p:nvPicPr>
        <p:blipFill rotWithShape="1">
          <a:blip r:embed="rId3">
            <a:alphaModFix/>
          </a:blip>
          <a:srcRect b="0" l="0" r="0" t="0"/>
          <a:stretch/>
        </p:blipFill>
        <p:spPr>
          <a:xfrm>
            <a:off x="330467" y="4177795"/>
            <a:ext cx="3785105" cy="37851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p:nvPr/>
        </p:nvSpPr>
        <p:spPr>
          <a:xfrm>
            <a:off x="0" y="2473325"/>
            <a:ext cx="18288000" cy="7813800"/>
          </a:xfrm>
          <a:prstGeom prst="rect">
            <a:avLst/>
          </a:prstGeom>
          <a:solidFill>
            <a:srgbClr val="E5E9FF">
              <a:alpha val="52941"/>
            </a:srgbClr>
          </a:solidFill>
          <a:ln>
            <a:noFill/>
          </a:ln>
        </p:spPr>
        <p:txBody>
          <a:bodyPr anchorCtr="0" anchor="t"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24" name="Google Shape;124;p5"/>
          <p:cNvSpPr txBox="1"/>
          <p:nvPr/>
        </p:nvSpPr>
        <p:spPr>
          <a:xfrm>
            <a:off x="990600" y="3467100"/>
            <a:ext cx="7944000" cy="5898600"/>
          </a:xfrm>
          <a:prstGeom prst="rect">
            <a:avLst/>
          </a:prstGeom>
          <a:noFill/>
          <a:ln>
            <a:noFill/>
          </a:ln>
        </p:spPr>
        <p:txBody>
          <a:bodyPr anchorCtr="0" anchor="t" bIns="0" lIns="0" spcFirstLastPara="1" rIns="0" wrap="square" tIns="0">
            <a:noAutofit/>
          </a:bodyPr>
          <a:lstStyle/>
          <a:p>
            <a:pPr indent="-527050" lvl="0" marL="57785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Total </a:t>
            </a:r>
            <a:r>
              <a:rPr b="1" lang="en-US" sz="2800">
                <a:solidFill>
                  <a:schemeClr val="dk1"/>
                </a:solidFill>
                <a:latin typeface="Leelawadee"/>
                <a:ea typeface="Leelawadee"/>
                <a:cs typeface="Leelawadee"/>
                <a:sym typeface="Leelawadee"/>
              </a:rPr>
              <a:t>7</a:t>
            </a:r>
            <a:r>
              <a:rPr lang="en-US" sz="2800">
                <a:solidFill>
                  <a:schemeClr val="dk1"/>
                </a:solidFill>
                <a:latin typeface="Leelawadee"/>
                <a:ea typeface="Leelawadee"/>
                <a:cs typeface="Leelawadee"/>
                <a:sym typeface="Leelawadee"/>
              </a:rPr>
              <a:t> Tables are present in the given dataset.</a:t>
            </a:r>
            <a:endParaRPr sz="2800"/>
          </a:p>
          <a:p>
            <a:pPr indent="-527050" lvl="0" marL="577850" marR="0" rtl="0" algn="l">
              <a:lnSpc>
                <a:spcPct val="150000"/>
              </a:lnSpc>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Tables in dataset- </a:t>
            </a:r>
            <a:r>
              <a:rPr lang="en-US" sz="2800">
                <a:solidFill>
                  <a:schemeClr val="dk1"/>
                </a:solidFill>
                <a:latin typeface="Leelawadee"/>
                <a:ea typeface="Leelawadee"/>
                <a:cs typeface="Leelawadee"/>
                <a:sym typeface="Leelawadee"/>
              </a:rPr>
              <a:t>users, comments, likes, photos, photo_tags, tags, follows.</a:t>
            </a:r>
            <a:endParaRPr sz="2800"/>
          </a:p>
          <a:p>
            <a:pPr indent="-527050" lvl="0" marL="57785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Total number users are </a:t>
            </a:r>
            <a:r>
              <a:rPr b="1" lang="en-US" sz="2800">
                <a:solidFill>
                  <a:schemeClr val="dk1"/>
                </a:solidFill>
                <a:latin typeface="Leelawadee"/>
                <a:ea typeface="Leelawadee"/>
                <a:cs typeface="Leelawadee"/>
                <a:sym typeface="Leelawadee"/>
              </a:rPr>
              <a:t>100</a:t>
            </a:r>
            <a:r>
              <a:rPr lang="en-US" sz="2800">
                <a:solidFill>
                  <a:schemeClr val="dk1"/>
                </a:solidFill>
                <a:latin typeface="Leelawadee"/>
                <a:ea typeface="Leelawadee"/>
                <a:cs typeface="Leelawadee"/>
                <a:sym typeface="Leelawadee"/>
              </a:rPr>
              <a:t>.</a:t>
            </a:r>
            <a:endParaRPr sz="2800"/>
          </a:p>
          <a:p>
            <a:pPr indent="-527050" lvl="0" marL="57785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Total number of posts made so far is </a:t>
            </a:r>
            <a:r>
              <a:rPr b="1" lang="en-US" sz="2800">
                <a:solidFill>
                  <a:schemeClr val="dk1"/>
                </a:solidFill>
                <a:latin typeface="Leelawadee"/>
                <a:ea typeface="Leelawadee"/>
                <a:cs typeface="Leelawadee"/>
                <a:sym typeface="Leelawadee"/>
              </a:rPr>
              <a:t>257</a:t>
            </a:r>
            <a:r>
              <a:rPr lang="en-US" sz="2800">
                <a:solidFill>
                  <a:schemeClr val="dk1"/>
                </a:solidFill>
                <a:latin typeface="Leelawadee"/>
                <a:ea typeface="Leelawadee"/>
                <a:cs typeface="Leelawadee"/>
                <a:sym typeface="Leelawadee"/>
              </a:rPr>
              <a:t>.</a:t>
            </a:r>
            <a:endParaRPr sz="2800"/>
          </a:p>
          <a:p>
            <a:pPr indent="-527050" lvl="0" marL="57785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Total number of likes posted by the users on posts is </a:t>
            </a:r>
            <a:r>
              <a:rPr b="1" lang="en-US" sz="2800">
                <a:solidFill>
                  <a:schemeClr val="dk1"/>
                </a:solidFill>
                <a:latin typeface="Leelawadee"/>
                <a:ea typeface="Leelawadee"/>
                <a:cs typeface="Leelawadee"/>
                <a:sym typeface="Leelawadee"/>
              </a:rPr>
              <a:t>8782</a:t>
            </a:r>
            <a:r>
              <a:rPr lang="en-US" sz="2800">
                <a:solidFill>
                  <a:schemeClr val="dk1"/>
                </a:solidFill>
                <a:latin typeface="Leelawadee"/>
                <a:ea typeface="Leelawadee"/>
                <a:cs typeface="Leelawadee"/>
                <a:sym typeface="Leelawadee"/>
              </a:rPr>
              <a:t>.</a:t>
            </a:r>
            <a:endParaRPr sz="2800"/>
          </a:p>
          <a:p>
            <a:pPr indent="-527050" lvl="0" marL="57785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Total number of comments on all posts are </a:t>
            </a:r>
            <a:r>
              <a:rPr b="1" lang="en-US" sz="2800">
                <a:solidFill>
                  <a:schemeClr val="dk1"/>
                </a:solidFill>
                <a:latin typeface="Leelawadee"/>
                <a:ea typeface="Leelawadee"/>
                <a:cs typeface="Leelawadee"/>
                <a:sym typeface="Leelawadee"/>
              </a:rPr>
              <a:t>7488</a:t>
            </a:r>
            <a:r>
              <a:rPr lang="en-US" sz="2800">
                <a:solidFill>
                  <a:schemeClr val="dk1"/>
                </a:solidFill>
                <a:latin typeface="Leelawadee"/>
                <a:ea typeface="Leelawadee"/>
                <a:cs typeface="Leelawadee"/>
                <a:sym typeface="Leelawadee"/>
              </a:rPr>
              <a:t>.</a:t>
            </a:r>
            <a:endParaRPr sz="2800">
              <a:solidFill>
                <a:schemeClr val="dk1"/>
              </a:solidFill>
              <a:latin typeface="Leelawadee"/>
              <a:ea typeface="Leelawadee"/>
              <a:cs typeface="Leelawadee"/>
              <a:sym typeface="Leelawadee"/>
            </a:endParaRPr>
          </a:p>
        </p:txBody>
      </p:sp>
      <p:pic>
        <p:nvPicPr>
          <p:cNvPr id="125" name="Google Shape;125;p5"/>
          <p:cNvPicPr preferRelativeResize="0"/>
          <p:nvPr/>
        </p:nvPicPr>
        <p:blipFill rotWithShape="1">
          <a:blip r:embed="rId3">
            <a:alphaModFix/>
          </a:blip>
          <a:srcRect b="0" l="0" r="0" t="0"/>
          <a:stretch/>
        </p:blipFill>
        <p:spPr>
          <a:xfrm>
            <a:off x="9753600" y="3009900"/>
            <a:ext cx="7760490" cy="6355773"/>
          </a:xfrm>
          <a:prstGeom prst="rect">
            <a:avLst/>
          </a:prstGeom>
          <a:noFill/>
          <a:ln cap="flat" cmpd="sng" w="228600">
            <a:solidFill>
              <a:schemeClr val="lt1"/>
            </a:solidFill>
            <a:prstDash val="solid"/>
            <a:round/>
            <a:headEnd len="sm" w="sm" type="none"/>
            <a:tailEnd len="sm" w="sm" type="none"/>
          </a:ln>
        </p:spPr>
      </p:pic>
      <p:sp>
        <p:nvSpPr>
          <p:cNvPr id="126" name="Google Shape;126;p5"/>
          <p:cNvSpPr txBox="1"/>
          <p:nvPr/>
        </p:nvSpPr>
        <p:spPr>
          <a:xfrm>
            <a:off x="920674" y="647700"/>
            <a:ext cx="146979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Design Schema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p:nvPr/>
        </p:nvSpPr>
        <p:spPr>
          <a:xfrm>
            <a:off x="9067800" y="2476500"/>
            <a:ext cx="9220200" cy="7813675"/>
          </a:xfrm>
          <a:prstGeom prst="rect">
            <a:avLst/>
          </a:prstGeom>
          <a:solidFill>
            <a:srgbClr val="E5E9FF">
              <a:alpha val="5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6"/>
          <p:cNvSpPr/>
          <p:nvPr/>
        </p:nvSpPr>
        <p:spPr>
          <a:xfrm>
            <a:off x="0" y="2473325"/>
            <a:ext cx="8915400" cy="7813675"/>
          </a:xfrm>
          <a:prstGeom prst="rect">
            <a:avLst/>
          </a:prstGeom>
          <a:solidFill>
            <a:srgbClr val="E5E9FF">
              <a:alpha val="52941"/>
            </a:srgbClr>
          </a:solidFill>
          <a:ln>
            <a:noFill/>
          </a:ln>
        </p:spPr>
        <p:txBody>
          <a:bodyPr anchorCtr="0" anchor="ctr"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33" name="Google Shape;133;p6"/>
          <p:cNvSpPr txBox="1"/>
          <p:nvPr/>
        </p:nvSpPr>
        <p:spPr>
          <a:xfrm>
            <a:off x="990601" y="3204528"/>
            <a:ext cx="6858000" cy="6053772"/>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comments_id : </a:t>
            </a:r>
            <a:r>
              <a:rPr lang="en-US" sz="2800">
                <a:solidFill>
                  <a:schemeClr val="dk1"/>
                </a:solidFill>
                <a:latin typeface="Leelawadee"/>
                <a:ea typeface="Leelawadee"/>
                <a:cs typeface="Leelawadee"/>
                <a:sym typeface="Leelawadee"/>
              </a:rPr>
              <a:t>unique identifier for each comment</a:t>
            </a:r>
            <a:endParaRPr/>
          </a:p>
          <a:p>
            <a:pPr indent="-279400" lvl="0" marL="457200" marR="0" rtl="0" algn="l">
              <a:spcBef>
                <a:spcPts val="0"/>
              </a:spcBef>
              <a:spcAft>
                <a:spcPts val="0"/>
              </a:spcAft>
              <a:buClr>
                <a:schemeClr val="dk1"/>
              </a:buClr>
              <a:buSzPts val="2800"/>
              <a:buFont typeface="Noto Sans Symbols"/>
              <a:buNone/>
            </a:pPr>
            <a:r>
              <a:t/>
            </a:r>
            <a:endParaRPr sz="2800">
              <a:solidFill>
                <a:schemeClr val="dk1"/>
              </a:solidFill>
              <a:latin typeface="Leelawadee"/>
              <a:ea typeface="Leelawadee"/>
              <a:cs typeface="Leelawadee"/>
              <a:sym typeface="Leelawadee"/>
            </a:endParaRPr>
          </a:p>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comment_text : </a:t>
            </a:r>
            <a:r>
              <a:rPr lang="en-US" sz="2800">
                <a:solidFill>
                  <a:schemeClr val="dk1"/>
                </a:solidFill>
                <a:latin typeface="Leelawadee"/>
                <a:ea typeface="Leelawadee"/>
                <a:cs typeface="Leelawadee"/>
                <a:sym typeface="Leelawadee"/>
              </a:rPr>
              <a:t>text content of a given comment</a:t>
            </a:r>
            <a:endParaRPr/>
          </a:p>
          <a:p>
            <a:pPr indent="-279400" lvl="0" marL="457200" marR="0" rtl="0" algn="l">
              <a:spcBef>
                <a:spcPts val="0"/>
              </a:spcBef>
              <a:spcAft>
                <a:spcPts val="0"/>
              </a:spcAft>
              <a:buClr>
                <a:schemeClr val="dk1"/>
              </a:buClr>
              <a:buSzPts val="2800"/>
              <a:buFont typeface="Noto Sans Symbols"/>
              <a:buNone/>
            </a:pPr>
            <a:r>
              <a:t/>
            </a:r>
            <a:endParaRPr sz="2800">
              <a:solidFill>
                <a:schemeClr val="dk1"/>
              </a:solidFill>
              <a:latin typeface="Leelawadee"/>
              <a:ea typeface="Leelawadee"/>
              <a:cs typeface="Leelawadee"/>
              <a:sym typeface="Leelawadee"/>
            </a:endParaRPr>
          </a:p>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user_id : </a:t>
            </a:r>
            <a:r>
              <a:rPr lang="en-US" sz="2800">
                <a:solidFill>
                  <a:schemeClr val="dk1"/>
                </a:solidFill>
                <a:latin typeface="Leelawadee"/>
                <a:ea typeface="Leelawadee"/>
                <a:cs typeface="Leelawadee"/>
                <a:sym typeface="Leelawadee"/>
              </a:rPr>
              <a:t>unique identifier for each user</a:t>
            </a:r>
            <a:endParaRPr/>
          </a:p>
          <a:p>
            <a:pPr indent="-279400" lvl="0" marL="457200" marR="0" rtl="0" algn="l">
              <a:spcBef>
                <a:spcPts val="0"/>
              </a:spcBef>
              <a:spcAft>
                <a:spcPts val="0"/>
              </a:spcAft>
              <a:buClr>
                <a:schemeClr val="dk1"/>
              </a:buClr>
              <a:buSzPts val="2800"/>
              <a:buFont typeface="Noto Sans Symbols"/>
              <a:buNone/>
            </a:pPr>
            <a:r>
              <a:t/>
            </a:r>
            <a:endParaRPr sz="2800">
              <a:solidFill>
                <a:schemeClr val="dk1"/>
              </a:solidFill>
              <a:latin typeface="Leelawadee"/>
              <a:ea typeface="Leelawadee"/>
              <a:cs typeface="Leelawadee"/>
              <a:sym typeface="Leelawadee"/>
            </a:endParaRPr>
          </a:p>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photo_id : </a:t>
            </a:r>
            <a:r>
              <a:rPr lang="en-US" sz="2800">
                <a:solidFill>
                  <a:schemeClr val="dk1"/>
                </a:solidFill>
                <a:latin typeface="Leelawadee"/>
                <a:ea typeface="Leelawadee"/>
                <a:cs typeface="Leelawadee"/>
                <a:sym typeface="Leelawadee"/>
              </a:rPr>
              <a:t>unique identifier for each photo</a:t>
            </a:r>
            <a:endParaRPr/>
          </a:p>
          <a:p>
            <a:pPr indent="-279400" lvl="0" marL="457200" marR="0" rtl="0" algn="l">
              <a:spcBef>
                <a:spcPts val="0"/>
              </a:spcBef>
              <a:spcAft>
                <a:spcPts val="0"/>
              </a:spcAft>
              <a:buClr>
                <a:schemeClr val="dk1"/>
              </a:buClr>
              <a:buSzPts val="2800"/>
              <a:buFont typeface="Noto Sans Symbols"/>
              <a:buNone/>
            </a:pPr>
            <a:r>
              <a:t/>
            </a:r>
            <a:endParaRPr sz="2800">
              <a:solidFill>
                <a:schemeClr val="dk1"/>
              </a:solidFill>
              <a:latin typeface="Leelawadee"/>
              <a:ea typeface="Leelawadee"/>
              <a:cs typeface="Leelawadee"/>
              <a:sym typeface="Leelawadee"/>
            </a:endParaRPr>
          </a:p>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created_at : </a:t>
            </a:r>
            <a:r>
              <a:rPr lang="en-US" sz="2800">
                <a:solidFill>
                  <a:schemeClr val="dk1"/>
                </a:solidFill>
                <a:latin typeface="Leelawadee"/>
                <a:ea typeface="Leelawadee"/>
                <a:cs typeface="Leelawadee"/>
                <a:sym typeface="Leelawadee"/>
              </a:rPr>
              <a:t>date of interaction in the form like, photos, tags</a:t>
            </a:r>
            <a:endParaRPr/>
          </a:p>
        </p:txBody>
      </p:sp>
      <p:sp>
        <p:nvSpPr>
          <p:cNvPr id="134" name="Google Shape;134;p6"/>
          <p:cNvSpPr txBox="1"/>
          <p:nvPr/>
        </p:nvSpPr>
        <p:spPr>
          <a:xfrm>
            <a:off x="10210799" y="3207703"/>
            <a:ext cx="6934201" cy="6050597"/>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follower_id : </a:t>
            </a:r>
            <a:r>
              <a:rPr lang="en-US" sz="2800">
                <a:solidFill>
                  <a:schemeClr val="dk1"/>
                </a:solidFill>
                <a:latin typeface="Leelawadee"/>
                <a:ea typeface="Leelawadee"/>
                <a:cs typeface="Leelawadee"/>
                <a:sym typeface="Leelawadee"/>
              </a:rPr>
              <a:t>user_id of the follower for a certain user</a:t>
            </a:r>
            <a:endParaRPr/>
          </a:p>
          <a:p>
            <a:pPr indent="-279400" lvl="0" marL="457200" marR="0" rtl="0" algn="l">
              <a:spcBef>
                <a:spcPts val="0"/>
              </a:spcBef>
              <a:spcAft>
                <a:spcPts val="0"/>
              </a:spcAft>
              <a:buClr>
                <a:schemeClr val="dk1"/>
              </a:buClr>
              <a:buSzPts val="2800"/>
              <a:buFont typeface="Noto Sans Symbols"/>
              <a:buNone/>
            </a:pPr>
            <a:r>
              <a:t/>
            </a:r>
            <a:endParaRPr sz="2800">
              <a:solidFill>
                <a:schemeClr val="dk1"/>
              </a:solidFill>
              <a:latin typeface="Leelawadee"/>
              <a:ea typeface="Leelawadee"/>
              <a:cs typeface="Leelawadee"/>
              <a:sym typeface="Leelawadee"/>
            </a:endParaRPr>
          </a:p>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followee_id : </a:t>
            </a:r>
            <a:r>
              <a:rPr lang="en-US" sz="2800">
                <a:solidFill>
                  <a:schemeClr val="dk1"/>
                </a:solidFill>
                <a:latin typeface="Leelawadee"/>
                <a:ea typeface="Leelawadee"/>
                <a:cs typeface="Leelawadee"/>
                <a:sym typeface="Leelawadee"/>
              </a:rPr>
              <a:t>user_id of followee for a certain user</a:t>
            </a:r>
            <a:endParaRPr/>
          </a:p>
          <a:p>
            <a:pPr indent="-279400" lvl="0" marL="457200" marR="0" rtl="0" algn="l">
              <a:spcBef>
                <a:spcPts val="0"/>
              </a:spcBef>
              <a:spcAft>
                <a:spcPts val="0"/>
              </a:spcAft>
              <a:buClr>
                <a:schemeClr val="dk1"/>
              </a:buClr>
              <a:buSzPts val="2800"/>
              <a:buFont typeface="Noto Sans Symbols"/>
              <a:buNone/>
            </a:pPr>
            <a:r>
              <a:t/>
            </a:r>
            <a:endParaRPr sz="2800">
              <a:solidFill>
                <a:schemeClr val="dk1"/>
              </a:solidFill>
              <a:latin typeface="Leelawadee"/>
              <a:ea typeface="Leelawadee"/>
              <a:cs typeface="Leelawadee"/>
              <a:sym typeface="Leelawadee"/>
            </a:endParaRPr>
          </a:p>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tag_id : </a:t>
            </a:r>
            <a:r>
              <a:rPr lang="en-US" sz="2800">
                <a:solidFill>
                  <a:schemeClr val="dk1"/>
                </a:solidFill>
                <a:latin typeface="Leelawadee"/>
                <a:ea typeface="Leelawadee"/>
                <a:cs typeface="Leelawadee"/>
                <a:sym typeface="Leelawadee"/>
              </a:rPr>
              <a:t>unique identifier for each tag</a:t>
            </a:r>
            <a:endParaRPr/>
          </a:p>
          <a:p>
            <a:pPr indent="-279400" lvl="0" marL="457200" marR="0" rtl="0" algn="l">
              <a:spcBef>
                <a:spcPts val="0"/>
              </a:spcBef>
              <a:spcAft>
                <a:spcPts val="0"/>
              </a:spcAft>
              <a:buClr>
                <a:schemeClr val="dk1"/>
              </a:buClr>
              <a:buSzPts val="2800"/>
              <a:buFont typeface="Noto Sans Symbols"/>
              <a:buNone/>
            </a:pPr>
            <a:r>
              <a:t/>
            </a:r>
            <a:endParaRPr sz="2800">
              <a:solidFill>
                <a:schemeClr val="dk1"/>
              </a:solidFill>
              <a:latin typeface="Leelawadee"/>
              <a:ea typeface="Leelawadee"/>
              <a:cs typeface="Leelawadee"/>
              <a:sym typeface="Leelawadee"/>
            </a:endParaRPr>
          </a:p>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image_url : </a:t>
            </a:r>
            <a:r>
              <a:rPr lang="en-US" sz="2800">
                <a:solidFill>
                  <a:schemeClr val="dk1"/>
                </a:solidFill>
                <a:latin typeface="Leelawadee"/>
                <a:ea typeface="Leelawadee"/>
                <a:cs typeface="Leelawadee"/>
                <a:sym typeface="Leelawadee"/>
              </a:rPr>
              <a:t>link to the image posted on the platform</a:t>
            </a:r>
            <a:endParaRPr/>
          </a:p>
          <a:p>
            <a:pPr indent="-279400" lvl="0" marL="457200" marR="0" rtl="0" algn="l">
              <a:spcBef>
                <a:spcPts val="0"/>
              </a:spcBef>
              <a:spcAft>
                <a:spcPts val="0"/>
              </a:spcAft>
              <a:buClr>
                <a:schemeClr val="dk1"/>
              </a:buClr>
              <a:buSzPts val="2800"/>
              <a:buFont typeface="Noto Sans Symbols"/>
              <a:buNone/>
            </a:pPr>
            <a:r>
              <a:t/>
            </a:r>
            <a:endParaRPr sz="2800">
              <a:solidFill>
                <a:schemeClr val="dk1"/>
              </a:solidFill>
              <a:latin typeface="Leelawadee"/>
              <a:ea typeface="Leelawadee"/>
              <a:cs typeface="Leelawadee"/>
              <a:sym typeface="Leelawadee"/>
            </a:endParaRPr>
          </a:p>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username : </a:t>
            </a:r>
            <a:r>
              <a:rPr lang="en-US" sz="2800">
                <a:solidFill>
                  <a:schemeClr val="dk1"/>
                </a:solidFill>
                <a:latin typeface="Leelawadee"/>
                <a:ea typeface="Leelawadee"/>
                <a:cs typeface="Leelawadee"/>
                <a:sym typeface="Leelawadee"/>
              </a:rPr>
              <a:t>username chosen by the user</a:t>
            </a:r>
            <a:endParaRPr sz="2800">
              <a:solidFill>
                <a:schemeClr val="dk1"/>
              </a:solidFill>
              <a:latin typeface="Leelawadee"/>
              <a:ea typeface="Leelawadee"/>
              <a:cs typeface="Leelawadee"/>
              <a:sym typeface="Leelawadee"/>
            </a:endParaRPr>
          </a:p>
        </p:txBody>
      </p:sp>
      <p:sp>
        <p:nvSpPr>
          <p:cNvPr id="135" name="Google Shape;135;p6"/>
          <p:cNvSpPr txBox="1"/>
          <p:nvPr/>
        </p:nvSpPr>
        <p:spPr>
          <a:xfrm>
            <a:off x="918283" y="647700"/>
            <a:ext cx="146280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Data Overview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p:nvPr/>
        </p:nvSpPr>
        <p:spPr>
          <a:xfrm>
            <a:off x="-622" y="2473325"/>
            <a:ext cx="18288000" cy="7813800"/>
          </a:xfrm>
          <a:prstGeom prst="rect">
            <a:avLst/>
          </a:prstGeom>
          <a:solidFill>
            <a:srgbClr val="E5E9FF">
              <a:alpha val="52941"/>
            </a:srgbClr>
          </a:solidFill>
          <a:ln>
            <a:noFill/>
          </a:ln>
        </p:spPr>
        <p:txBody>
          <a:bodyPr anchorCtr="0" anchor="ctr"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41" name="Google Shape;141;p7"/>
          <p:cNvSpPr txBox="1"/>
          <p:nvPr/>
        </p:nvSpPr>
        <p:spPr>
          <a:xfrm>
            <a:off x="1054418" y="2947353"/>
            <a:ext cx="1067435" cy="9309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5000"/>
              <a:buFont typeface="Arial"/>
              <a:buNone/>
            </a:pPr>
            <a:r>
              <a:t/>
            </a:r>
            <a:endParaRPr b="1" i="0" sz="5000">
              <a:solidFill>
                <a:srgbClr val="262626"/>
              </a:solidFill>
              <a:latin typeface="Calibri"/>
              <a:ea typeface="Calibri"/>
              <a:cs typeface="Calibri"/>
              <a:sym typeface="Calibri"/>
            </a:endParaRPr>
          </a:p>
        </p:txBody>
      </p:sp>
      <p:sp>
        <p:nvSpPr>
          <p:cNvPr id="142" name="Google Shape;142;p7"/>
          <p:cNvSpPr txBox="1"/>
          <p:nvPr/>
        </p:nvSpPr>
        <p:spPr>
          <a:xfrm>
            <a:off x="4234125" y="3189150"/>
            <a:ext cx="13432800" cy="6412200"/>
          </a:xfrm>
          <a:prstGeom prst="rect">
            <a:avLst/>
          </a:prstGeom>
          <a:noFill/>
          <a:ln>
            <a:noFill/>
          </a:ln>
        </p:spPr>
        <p:txBody>
          <a:bodyPr anchorCtr="0" anchor="t" bIns="45700" lIns="91425" spcFirstLastPara="1" rIns="91425" wrap="square" tIns="45700">
            <a:noAutofit/>
          </a:bodyPr>
          <a:lstStyle/>
          <a:p>
            <a:pPr indent="-406400" lvl="0" marL="457200" rtl="0" algn="l">
              <a:lnSpc>
                <a:spcPct val="120000"/>
              </a:lnSpc>
              <a:spcBef>
                <a:spcPts val="0"/>
              </a:spcBef>
              <a:spcAft>
                <a:spcPts val="0"/>
              </a:spcAft>
              <a:buClr>
                <a:schemeClr val="dk1"/>
              </a:buClr>
              <a:buSzPts val="2800"/>
              <a:buFont typeface="Leelawadee"/>
              <a:buChar char="❖"/>
            </a:pPr>
            <a:r>
              <a:rPr b="1" lang="en-US" sz="2800">
                <a:solidFill>
                  <a:schemeClr val="dk1"/>
                </a:solidFill>
                <a:latin typeface="Leelawadee"/>
                <a:ea typeface="Leelawadee"/>
                <a:cs typeface="Leelawadee"/>
                <a:sym typeface="Leelawadee"/>
              </a:rPr>
              <a:t>Problem Definition</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 Clearly defined the problem statement by outlining the key business questions, analytical objectives, and expected outcomes. Assessed the available data sources to confirm their alignment with the analysis goals.</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0"/>
              </a:spcAft>
              <a:buClr>
                <a:schemeClr val="dk1"/>
              </a:buClr>
              <a:buSzPts val="2800"/>
              <a:buFont typeface="Leelawadee"/>
              <a:buChar char="❖"/>
            </a:pPr>
            <a:r>
              <a:rPr b="1" lang="en-US" sz="2800">
                <a:solidFill>
                  <a:schemeClr val="dk1"/>
                </a:solidFill>
                <a:latin typeface="Leelawadee"/>
                <a:ea typeface="Leelawadee"/>
                <a:cs typeface="Leelawadee"/>
                <a:sym typeface="Leelawadee"/>
              </a:rPr>
              <a:t>Data Preparation and Cleaning</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 Performed comprehensive data cleaning by identifying and removing duplicate entries, resolving missing values, and correcting inconsistencies to ensure data accuracy, completeness, and reliability.</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1200"/>
              </a:spcAft>
              <a:buClr>
                <a:schemeClr val="dk1"/>
              </a:buClr>
              <a:buSzPts val="2800"/>
              <a:buFont typeface="Leelawadee"/>
              <a:buChar char="❖"/>
            </a:pPr>
            <a:r>
              <a:rPr b="1" lang="en-US" sz="2800">
                <a:solidFill>
                  <a:schemeClr val="dk1"/>
                </a:solidFill>
                <a:latin typeface="Leelawadee"/>
                <a:ea typeface="Leelawadee"/>
                <a:cs typeface="Leelawadee"/>
                <a:sym typeface="Leelawadee"/>
              </a:rPr>
              <a:t>Analytical Approach</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 Utilized advanced SQL methodologies—including CTEs, aggregate functions, subqueries, GROUP BY clauses, and ranking functions—to perform in-depth analysis, uncover patterns, and generate actionable insights.</a:t>
            </a:r>
            <a:endParaRPr b="1" sz="2800">
              <a:solidFill>
                <a:schemeClr val="dk1"/>
              </a:solidFill>
              <a:latin typeface="Leelawadee"/>
              <a:ea typeface="Leelawadee"/>
              <a:cs typeface="Leelawadee"/>
              <a:sym typeface="Leelawadee"/>
            </a:endParaRPr>
          </a:p>
        </p:txBody>
      </p:sp>
      <p:sp>
        <p:nvSpPr>
          <p:cNvPr id="143" name="Google Shape;143;p7"/>
          <p:cNvSpPr txBox="1"/>
          <p:nvPr/>
        </p:nvSpPr>
        <p:spPr>
          <a:xfrm>
            <a:off x="974911" y="647700"/>
            <a:ext cx="146979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Approach</a:t>
            </a:r>
            <a:endParaRPr/>
          </a:p>
        </p:txBody>
      </p:sp>
      <p:pic>
        <p:nvPicPr>
          <p:cNvPr id="144" name="Google Shape;144;p7"/>
          <p:cNvPicPr preferRelativeResize="0"/>
          <p:nvPr/>
        </p:nvPicPr>
        <p:blipFill rotWithShape="1">
          <a:blip r:embed="rId3">
            <a:alphaModFix/>
          </a:blip>
          <a:srcRect b="0" l="0" r="0" t="0"/>
          <a:stretch/>
        </p:blipFill>
        <p:spPr>
          <a:xfrm>
            <a:off x="976199" y="4610100"/>
            <a:ext cx="2674432" cy="267443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8"/>
          <p:cNvSpPr/>
          <p:nvPr/>
        </p:nvSpPr>
        <p:spPr>
          <a:xfrm>
            <a:off x="0" y="2473325"/>
            <a:ext cx="18288000" cy="7813800"/>
          </a:xfrm>
          <a:prstGeom prst="rect">
            <a:avLst/>
          </a:prstGeom>
          <a:solidFill>
            <a:srgbClr val="E5E9FF">
              <a:alpha val="52941"/>
            </a:srgbClr>
          </a:solidFill>
          <a:ln>
            <a:noFill/>
          </a:ln>
        </p:spPr>
        <p:txBody>
          <a:bodyPr anchorCtr="0" anchor="ctr"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50" name="Google Shape;150;p8"/>
          <p:cNvSpPr txBox="1"/>
          <p:nvPr/>
        </p:nvSpPr>
        <p:spPr>
          <a:xfrm>
            <a:off x="1054418" y="2947353"/>
            <a:ext cx="1067435" cy="9309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5000"/>
              <a:buFont typeface="Arial"/>
              <a:buNone/>
            </a:pPr>
            <a:r>
              <a:t/>
            </a:r>
            <a:endParaRPr b="1" i="0" sz="5000">
              <a:solidFill>
                <a:srgbClr val="262626"/>
              </a:solidFill>
              <a:latin typeface="Calibri"/>
              <a:ea typeface="Calibri"/>
              <a:cs typeface="Calibri"/>
              <a:sym typeface="Calibri"/>
            </a:endParaRPr>
          </a:p>
        </p:txBody>
      </p:sp>
      <p:sp>
        <p:nvSpPr>
          <p:cNvPr id="151" name="Google Shape;151;p8"/>
          <p:cNvSpPr txBox="1"/>
          <p:nvPr/>
        </p:nvSpPr>
        <p:spPr>
          <a:xfrm>
            <a:off x="990600" y="2917953"/>
            <a:ext cx="13006200" cy="6924300"/>
          </a:xfrm>
          <a:prstGeom prst="rect">
            <a:avLst/>
          </a:prstGeom>
          <a:noFill/>
          <a:ln>
            <a:noFill/>
          </a:ln>
        </p:spPr>
        <p:txBody>
          <a:bodyPr anchorCtr="0" anchor="t" bIns="45700" lIns="91425" spcFirstLastPara="1" rIns="91425" wrap="square" tIns="45700">
            <a:noAutofit/>
          </a:bodyPr>
          <a:lstStyle/>
          <a:p>
            <a:pPr indent="-406400" lvl="0" marL="457200" rtl="0" algn="l">
              <a:lnSpc>
                <a:spcPct val="120000"/>
              </a:lnSpc>
              <a:spcBef>
                <a:spcPts val="1000"/>
              </a:spcBef>
              <a:spcAft>
                <a:spcPts val="0"/>
              </a:spcAft>
              <a:buClr>
                <a:schemeClr val="dk1"/>
              </a:buClr>
              <a:buSzPts val="2800"/>
              <a:buFont typeface="Leelawadee"/>
              <a:buChar char="❖"/>
            </a:pPr>
            <a:r>
              <a:rPr b="1" lang="en-US" sz="2800">
                <a:solidFill>
                  <a:schemeClr val="dk1"/>
                </a:solidFill>
                <a:latin typeface="Leelawadee"/>
                <a:ea typeface="Leelawadee"/>
                <a:cs typeface="Leelawadee"/>
                <a:sym typeface="Leelawadee"/>
              </a:rPr>
              <a:t>Data Visualization</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Developed insightful visual dashboards using charts and graphs to represent key performance metrics such as total posts, likes, and comments. These visualizations enabled ranking users by engagement levels and identifying the most impactful hashtags.</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0"/>
              </a:spcAft>
              <a:buClr>
                <a:schemeClr val="dk1"/>
              </a:buClr>
              <a:buSzPts val="2800"/>
              <a:buFont typeface="Leelawadee"/>
              <a:buChar char="❖"/>
            </a:pPr>
            <a:r>
              <a:rPr b="1" lang="en-US" sz="2800">
                <a:solidFill>
                  <a:schemeClr val="dk1"/>
                </a:solidFill>
                <a:latin typeface="Leelawadee"/>
                <a:ea typeface="Leelawadee"/>
                <a:cs typeface="Leelawadee"/>
                <a:sym typeface="Leelawadee"/>
              </a:rPr>
              <a:t>Strategy Development</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Devised data-driven strategies to enhance user engagement and retention. Proposed targeted initiatives and interactive approaches to foster stronger user participation and overall platform growth.</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1200"/>
              </a:spcAft>
              <a:buClr>
                <a:schemeClr val="dk1"/>
              </a:buClr>
              <a:buSzPts val="2800"/>
              <a:buFont typeface="Leelawadee"/>
              <a:buChar char="❖"/>
            </a:pPr>
            <a:r>
              <a:rPr b="1" lang="en-US" sz="2800">
                <a:solidFill>
                  <a:schemeClr val="dk1"/>
                </a:solidFill>
                <a:latin typeface="Leelawadee"/>
                <a:ea typeface="Leelawadee"/>
                <a:cs typeface="Leelawadee"/>
                <a:sym typeface="Leelawadee"/>
              </a:rPr>
              <a:t>Implementation and Optimization</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Defined clear execution steps for strategy deployment and introduced optimization techniques to continuously refine performance, ensuring sustained engagement and measurable improvements over time.</a:t>
            </a:r>
            <a:endParaRPr b="1" sz="2800">
              <a:solidFill>
                <a:schemeClr val="dk1"/>
              </a:solidFill>
              <a:latin typeface="Leelawadee"/>
              <a:ea typeface="Leelawadee"/>
              <a:cs typeface="Leelawadee"/>
              <a:sym typeface="Leelawadee"/>
            </a:endParaRPr>
          </a:p>
        </p:txBody>
      </p:sp>
      <p:sp>
        <p:nvSpPr>
          <p:cNvPr id="152" name="Google Shape;152;p8"/>
          <p:cNvSpPr txBox="1"/>
          <p:nvPr/>
        </p:nvSpPr>
        <p:spPr>
          <a:xfrm>
            <a:off x="992990" y="647700"/>
            <a:ext cx="146979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Approach</a:t>
            </a:r>
            <a:endParaRPr/>
          </a:p>
        </p:txBody>
      </p:sp>
      <p:pic>
        <p:nvPicPr>
          <p:cNvPr id="153" name="Google Shape;153;p8"/>
          <p:cNvPicPr preferRelativeResize="0"/>
          <p:nvPr/>
        </p:nvPicPr>
        <p:blipFill rotWithShape="1">
          <a:blip r:embed="rId3">
            <a:alphaModFix/>
          </a:blip>
          <a:srcRect b="0" l="0" r="0" t="0"/>
          <a:stretch/>
        </p:blipFill>
        <p:spPr>
          <a:xfrm>
            <a:off x="14622968" y="4558407"/>
            <a:ext cx="2674432" cy="267443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9"/>
          <p:cNvSpPr/>
          <p:nvPr/>
        </p:nvSpPr>
        <p:spPr>
          <a:xfrm>
            <a:off x="0" y="2473325"/>
            <a:ext cx="18288000" cy="7813800"/>
          </a:xfrm>
          <a:prstGeom prst="rect">
            <a:avLst/>
          </a:prstGeom>
          <a:solidFill>
            <a:srgbClr val="E5E9FF">
              <a:alpha val="52941"/>
            </a:srgbClr>
          </a:solidFill>
          <a:ln>
            <a:noFill/>
          </a:ln>
        </p:spPr>
        <p:txBody>
          <a:bodyPr anchorCtr="0" anchor="t"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59" name="Google Shape;159;p9"/>
          <p:cNvSpPr txBox="1"/>
          <p:nvPr/>
        </p:nvSpPr>
        <p:spPr>
          <a:xfrm>
            <a:off x="8084975" y="3984608"/>
            <a:ext cx="9527700" cy="4863300"/>
          </a:xfrm>
          <a:prstGeom prst="rect">
            <a:avLst/>
          </a:prstGeom>
          <a:noFill/>
          <a:ln>
            <a:noFill/>
          </a:ln>
        </p:spPr>
        <p:txBody>
          <a:bodyPr anchorCtr="0" anchor="t" bIns="0" lIns="0" spcFirstLastPara="1" rIns="0" wrap="square" tIns="0">
            <a:noAutofit/>
          </a:bodyPr>
          <a:lstStyle/>
          <a:p>
            <a:pPr indent="-406400" lvl="0" marL="457200" rtl="0" algn="l">
              <a:lnSpc>
                <a:spcPct val="115000"/>
              </a:lnSpc>
              <a:spcBef>
                <a:spcPts val="1200"/>
              </a:spcBef>
              <a:spcAft>
                <a:spcPts val="0"/>
              </a:spcAft>
              <a:buClr>
                <a:schemeClr val="dk1"/>
              </a:buClr>
              <a:buSzPts val="2800"/>
              <a:buFont typeface="Leelawadee"/>
              <a:buChar char="❖"/>
            </a:pPr>
            <a:r>
              <a:rPr b="1" lang="en-US" sz="2800">
                <a:solidFill>
                  <a:schemeClr val="dk1"/>
                </a:solidFill>
                <a:latin typeface="Leelawadee"/>
                <a:ea typeface="Leelawadee"/>
                <a:cs typeface="Leelawadee"/>
                <a:sym typeface="Leelawadee"/>
              </a:rPr>
              <a:t>Active Users (30%)</a:t>
            </a:r>
            <a:r>
              <a:rPr lang="en-US" sz="2800">
                <a:solidFill>
                  <a:schemeClr val="dk1"/>
                </a:solidFill>
                <a:latin typeface="Leelawadee"/>
                <a:ea typeface="Leelawadee"/>
                <a:cs typeface="Leelawadee"/>
                <a:sym typeface="Leelawadee"/>
              </a:rPr>
              <a:t> – Highly engaged users who frequently like, comment, or share posts; ideal for brand advocacy and community growth.</a:t>
            </a:r>
            <a:endParaRPr sz="2800">
              <a:solidFill>
                <a:schemeClr val="dk1"/>
              </a:solidFill>
              <a:latin typeface="Leelawadee"/>
              <a:ea typeface="Leelawadee"/>
              <a:cs typeface="Leelawadee"/>
              <a:sym typeface="Leelawadee"/>
            </a:endParaRPr>
          </a:p>
          <a:p>
            <a:pPr indent="-406400" lvl="0" marL="457200" rtl="0" algn="l">
              <a:lnSpc>
                <a:spcPct val="115000"/>
              </a:lnSpc>
              <a:spcBef>
                <a:spcPts val="1000"/>
              </a:spcBef>
              <a:spcAft>
                <a:spcPts val="0"/>
              </a:spcAft>
              <a:buClr>
                <a:schemeClr val="dk1"/>
              </a:buClr>
              <a:buSzPts val="2800"/>
              <a:buFont typeface="Leelawadee"/>
              <a:buChar char="❖"/>
            </a:pPr>
            <a:r>
              <a:rPr b="1" lang="en-US" sz="2800">
                <a:solidFill>
                  <a:schemeClr val="dk1"/>
                </a:solidFill>
                <a:latin typeface="Leelawadee"/>
                <a:ea typeface="Leelawadee"/>
                <a:cs typeface="Leelawadee"/>
                <a:sym typeface="Leelawadee"/>
              </a:rPr>
              <a:t>Moderately Active Users (34%)</a:t>
            </a:r>
            <a:r>
              <a:rPr lang="en-US" sz="2800">
                <a:solidFill>
                  <a:schemeClr val="dk1"/>
                </a:solidFill>
                <a:latin typeface="Leelawadee"/>
                <a:ea typeface="Leelawadee"/>
                <a:cs typeface="Leelawadee"/>
                <a:sym typeface="Leelawadee"/>
              </a:rPr>
              <a:t> – Moderately engaged users who interact occasionally; potential targets for campaigns to boost engagement.</a:t>
            </a:r>
            <a:endParaRPr sz="2800">
              <a:solidFill>
                <a:schemeClr val="dk1"/>
              </a:solidFill>
              <a:latin typeface="Leelawadee"/>
              <a:ea typeface="Leelawadee"/>
              <a:cs typeface="Leelawadee"/>
              <a:sym typeface="Leelawadee"/>
            </a:endParaRPr>
          </a:p>
          <a:p>
            <a:pPr indent="-406400" lvl="0" marL="457200" rtl="0" algn="l">
              <a:lnSpc>
                <a:spcPct val="115000"/>
              </a:lnSpc>
              <a:spcBef>
                <a:spcPts val="1200"/>
              </a:spcBef>
              <a:spcAft>
                <a:spcPts val="1000"/>
              </a:spcAft>
              <a:buClr>
                <a:schemeClr val="dk1"/>
              </a:buClr>
              <a:buSzPts val="2800"/>
              <a:buFont typeface="Leelawadee"/>
              <a:buChar char="❖"/>
            </a:pPr>
            <a:r>
              <a:rPr b="1" lang="en-US" sz="2800">
                <a:solidFill>
                  <a:schemeClr val="dk1"/>
                </a:solidFill>
                <a:latin typeface="Leelawadee"/>
                <a:ea typeface="Leelawadee"/>
                <a:cs typeface="Leelawadee"/>
                <a:sym typeface="Leelawadee"/>
              </a:rPr>
              <a:t>Inactive Users (36%)</a:t>
            </a:r>
            <a:r>
              <a:rPr lang="en-US" sz="2800">
                <a:solidFill>
                  <a:schemeClr val="dk1"/>
                </a:solidFill>
                <a:latin typeface="Leelawadee"/>
                <a:ea typeface="Leelawadee"/>
                <a:cs typeface="Leelawadee"/>
                <a:sym typeface="Leelawadee"/>
              </a:rPr>
              <a:t> – Low or no engagement users; require re-engagement through personalized content or promotional efforts.</a:t>
            </a:r>
            <a:endParaRPr b="1" sz="2800">
              <a:solidFill>
                <a:schemeClr val="dk1"/>
              </a:solidFill>
              <a:latin typeface="Leelawadee"/>
              <a:ea typeface="Leelawadee"/>
              <a:cs typeface="Leelawadee"/>
              <a:sym typeface="Leelawadee"/>
            </a:endParaRPr>
          </a:p>
        </p:txBody>
      </p:sp>
      <p:sp>
        <p:nvSpPr>
          <p:cNvPr id="160" name="Google Shape;160;p9"/>
          <p:cNvSpPr txBox="1"/>
          <p:nvPr/>
        </p:nvSpPr>
        <p:spPr>
          <a:xfrm>
            <a:off x="920675" y="647700"/>
            <a:ext cx="166053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User Engagement Distribution</a:t>
            </a:r>
            <a:endParaRPr/>
          </a:p>
        </p:txBody>
      </p:sp>
      <p:graphicFrame>
        <p:nvGraphicFramePr>
          <p:cNvPr id="161" name="Google Shape;161;p9"/>
          <p:cNvGraphicFramePr/>
          <p:nvPr/>
        </p:nvGraphicFramePr>
        <p:xfrm>
          <a:off x="936363" y="3188047"/>
          <a:ext cx="6280500" cy="6553200"/>
        </p:xfrm>
        <a:graphic>
          <a:graphicData uri="http://schemas.openxmlformats.org/drawingml/2006/chart">
            <c:chart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0"/>
          <p:cNvSpPr/>
          <p:nvPr/>
        </p:nvSpPr>
        <p:spPr>
          <a:xfrm>
            <a:off x="0" y="2473325"/>
            <a:ext cx="18288000" cy="7813800"/>
          </a:xfrm>
          <a:prstGeom prst="rect">
            <a:avLst/>
          </a:prstGeom>
          <a:solidFill>
            <a:srgbClr val="E5E9FF">
              <a:alpha val="52941"/>
            </a:srgbClr>
          </a:solidFill>
          <a:ln>
            <a:noFill/>
          </a:ln>
        </p:spPr>
        <p:txBody>
          <a:bodyPr anchorCtr="0" anchor="t"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67" name="Google Shape;167;p10"/>
          <p:cNvSpPr txBox="1"/>
          <p:nvPr/>
        </p:nvSpPr>
        <p:spPr>
          <a:xfrm>
            <a:off x="990600" y="3532988"/>
            <a:ext cx="8001000" cy="5867400"/>
          </a:xfrm>
          <a:prstGeom prst="rect">
            <a:avLst/>
          </a:prstGeom>
          <a:noFill/>
          <a:ln>
            <a:noFill/>
          </a:ln>
        </p:spPr>
        <p:txBody>
          <a:bodyPr anchorCtr="0" anchor="t" bIns="0" lIns="0" spcFirstLastPara="1" rIns="0" wrap="square" tIns="0">
            <a:noAutofit/>
          </a:bodyPr>
          <a:lstStyle/>
          <a:p>
            <a:pPr indent="-406400" lvl="0" marL="45720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The chart illustrates user posting activity.</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Out of 100 users, 26</a:t>
            </a:r>
            <a:r>
              <a:rPr b="1" lang="en-US" sz="2800">
                <a:solidFill>
                  <a:schemeClr val="dk1"/>
                </a:solidFill>
                <a:latin typeface="Leelawadee"/>
                <a:ea typeface="Leelawadee"/>
                <a:cs typeface="Leelawadee"/>
                <a:sym typeface="Leelawadee"/>
              </a:rPr>
              <a:t> </a:t>
            </a:r>
            <a:r>
              <a:rPr lang="en-US" sz="2800">
                <a:solidFill>
                  <a:schemeClr val="dk1"/>
                </a:solidFill>
                <a:latin typeface="Leelawadee"/>
                <a:ea typeface="Leelawadee"/>
                <a:cs typeface="Leelawadee"/>
                <a:sym typeface="Leelawadee"/>
              </a:rPr>
              <a:t>haven’t posted, while 18 have shared only once—the second-largest group.</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Few users (1–2) post more than six times, with just one reaching 12 posts.</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Overall, posting frequency declines as post count rises, indicating</a:t>
            </a:r>
            <a:r>
              <a:rPr b="1" lang="en-US" sz="2800">
                <a:solidFill>
                  <a:schemeClr val="dk1"/>
                </a:solidFill>
                <a:latin typeface="Leelawadee"/>
                <a:ea typeface="Leelawadee"/>
                <a:cs typeface="Leelawadee"/>
                <a:sym typeface="Leelawadee"/>
              </a:rPr>
              <a:t> low user activity</a:t>
            </a:r>
            <a:r>
              <a:rPr lang="en-US" sz="2800">
                <a:solidFill>
                  <a:schemeClr val="dk1"/>
                </a:solidFill>
                <a:latin typeface="Leelawadee"/>
                <a:ea typeface="Leelawadee"/>
                <a:cs typeface="Leelawadee"/>
                <a:sym typeface="Leelawadee"/>
              </a:rPr>
              <a:t> and the need to encourage more content sharing.</a:t>
            </a:r>
            <a:endParaRPr sz="2800">
              <a:solidFill>
                <a:schemeClr val="dk1"/>
              </a:solidFill>
              <a:latin typeface="Leelawadee"/>
              <a:ea typeface="Leelawadee"/>
              <a:cs typeface="Leelawadee"/>
              <a:sym typeface="Leelawadee"/>
            </a:endParaRPr>
          </a:p>
        </p:txBody>
      </p:sp>
      <p:sp>
        <p:nvSpPr>
          <p:cNvPr id="168" name="Google Shape;168;p10"/>
          <p:cNvSpPr txBox="1"/>
          <p:nvPr/>
        </p:nvSpPr>
        <p:spPr>
          <a:xfrm>
            <a:off x="920675" y="647700"/>
            <a:ext cx="166053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User Activity On Photos</a:t>
            </a:r>
            <a:endParaRPr/>
          </a:p>
        </p:txBody>
      </p:sp>
      <p:graphicFrame>
        <p:nvGraphicFramePr>
          <p:cNvPr id="169" name="Google Shape;169;p10"/>
          <p:cNvGraphicFramePr/>
          <p:nvPr/>
        </p:nvGraphicFramePr>
        <p:xfrm flipH="1" rot="10800000">
          <a:off x="17221199" y="7505700"/>
          <a:ext cx="304799" cy="381000"/>
        </p:xfrm>
        <a:graphic>
          <a:graphicData uri="http://schemas.openxmlformats.org/drawingml/2006/chart">
            <c:chart r:id="rId3"/>
          </a:graphicData>
        </a:graphic>
      </p:graphicFrame>
      <p:sp>
        <p:nvSpPr>
          <p:cNvPr id="170" name="Google Shape;170;p10"/>
          <p:cNvSpPr/>
          <p:nvPr/>
        </p:nvSpPr>
        <p:spPr>
          <a:xfrm>
            <a:off x="9585525" y="3379837"/>
            <a:ext cx="8192100" cy="6248400"/>
          </a:xfrm>
          <a:prstGeom prst="roundRect">
            <a:avLst>
              <a:gd fmla="val 3472"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aphicFrame>
        <p:nvGraphicFramePr>
          <p:cNvPr id="171" name="Google Shape;171;p10"/>
          <p:cNvGraphicFramePr/>
          <p:nvPr/>
        </p:nvGraphicFramePr>
        <p:xfrm>
          <a:off x="9757275" y="3570337"/>
          <a:ext cx="7848600" cy="5867400"/>
        </p:xfrm>
        <a:graphic>
          <a:graphicData uri="http://schemas.openxmlformats.org/drawingml/2006/chart">
            <c:chart r:id="rId4"/>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1"/>
          <p:cNvSpPr/>
          <p:nvPr/>
        </p:nvSpPr>
        <p:spPr>
          <a:xfrm>
            <a:off x="0" y="2473325"/>
            <a:ext cx="18288000" cy="7813800"/>
          </a:xfrm>
          <a:prstGeom prst="rect">
            <a:avLst/>
          </a:prstGeom>
          <a:solidFill>
            <a:srgbClr val="E5E9FF">
              <a:alpha val="52941"/>
            </a:srgbClr>
          </a:solidFill>
          <a:ln>
            <a:noFill/>
          </a:ln>
        </p:spPr>
        <p:txBody>
          <a:bodyPr anchorCtr="0" anchor="t"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77" name="Google Shape;177;p11"/>
          <p:cNvSpPr txBox="1"/>
          <p:nvPr/>
        </p:nvSpPr>
        <p:spPr>
          <a:xfrm>
            <a:off x="7596825" y="3713439"/>
            <a:ext cx="9929100" cy="5261100"/>
          </a:xfrm>
          <a:prstGeom prst="rect">
            <a:avLst/>
          </a:prstGeom>
          <a:noFill/>
          <a:ln>
            <a:noFill/>
          </a:ln>
        </p:spPr>
        <p:txBody>
          <a:bodyPr anchorCtr="0" anchor="t" bIns="0" lIns="0" spcFirstLastPara="1" rIns="0" wrap="square" tIns="0">
            <a:noAutofit/>
          </a:bodyPr>
          <a:lstStyle/>
          <a:p>
            <a:pPr indent="-406400" lvl="0" marL="45720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The chart highlights user engagement through likes.</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Around 22 users haven’t given any likes, showing low interaction levels.</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Most users gave between </a:t>
            </a:r>
            <a:r>
              <a:rPr b="1" lang="en-US" sz="2800">
                <a:solidFill>
                  <a:schemeClr val="dk1"/>
                </a:solidFill>
                <a:latin typeface="Leelawadee"/>
                <a:ea typeface="Leelawadee"/>
                <a:cs typeface="Leelawadee"/>
                <a:sym typeface="Leelawadee"/>
              </a:rPr>
              <a:t>75–95 likes</a:t>
            </a:r>
            <a:r>
              <a:rPr lang="en-US" sz="2800">
                <a:solidFill>
                  <a:schemeClr val="dk1"/>
                </a:solidFill>
                <a:latin typeface="Leelawadee"/>
                <a:ea typeface="Leelawadee"/>
                <a:cs typeface="Leelawadee"/>
                <a:sym typeface="Leelawadee"/>
              </a:rPr>
              <a:t>, though sparsely distributed, while one user stood out with 257 likes.</a:t>
            </a:r>
            <a:endParaRPr sz="2800">
              <a:solidFill>
                <a:schemeClr val="dk1"/>
              </a:solidFill>
              <a:latin typeface="Leelawadee"/>
              <a:ea typeface="Leelawadee"/>
              <a:cs typeface="Leelawadee"/>
              <a:sym typeface="Leelawadee"/>
            </a:endParaRPr>
          </a:p>
          <a:p>
            <a:pPr indent="-381000" lvl="0" marL="34290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Overall, engagement is minimal, suggesting a need to encourage more users to actively like and interact with content.</a:t>
            </a:r>
            <a:endParaRPr sz="2800">
              <a:solidFill>
                <a:schemeClr val="dk1"/>
              </a:solidFill>
              <a:latin typeface="Leelawadee"/>
              <a:ea typeface="Leelawadee"/>
              <a:cs typeface="Leelawadee"/>
              <a:sym typeface="Leelawadee"/>
            </a:endParaRPr>
          </a:p>
        </p:txBody>
      </p:sp>
      <p:sp>
        <p:nvSpPr>
          <p:cNvPr id="178" name="Google Shape;178;p11"/>
          <p:cNvSpPr txBox="1"/>
          <p:nvPr/>
        </p:nvSpPr>
        <p:spPr>
          <a:xfrm>
            <a:off x="920675" y="647700"/>
            <a:ext cx="166053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User Activity On Likes</a:t>
            </a:r>
            <a:endParaRPr/>
          </a:p>
        </p:txBody>
      </p:sp>
      <p:sp>
        <p:nvSpPr>
          <p:cNvPr id="179" name="Google Shape;179;p11"/>
          <p:cNvSpPr/>
          <p:nvPr/>
        </p:nvSpPr>
        <p:spPr>
          <a:xfrm>
            <a:off x="990606" y="2912975"/>
            <a:ext cx="5966100" cy="6934500"/>
          </a:xfrm>
          <a:prstGeom prst="roundRect">
            <a:avLst>
              <a:gd fmla="val 1818"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80" name="Google Shape;180;p11"/>
          <p:cNvPicPr preferRelativeResize="0"/>
          <p:nvPr/>
        </p:nvPicPr>
        <p:blipFill rotWithShape="1">
          <a:blip r:embed="rId3">
            <a:alphaModFix/>
          </a:blip>
          <a:srcRect b="1992" l="0" r="0" t="1358"/>
          <a:stretch/>
        </p:blipFill>
        <p:spPr>
          <a:xfrm>
            <a:off x="1411601" y="3098463"/>
            <a:ext cx="5124092" cy="6563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2"/>
          <p:cNvSpPr/>
          <p:nvPr/>
        </p:nvSpPr>
        <p:spPr>
          <a:xfrm>
            <a:off x="0" y="2473325"/>
            <a:ext cx="18288000" cy="7813800"/>
          </a:xfrm>
          <a:prstGeom prst="rect">
            <a:avLst/>
          </a:prstGeom>
          <a:solidFill>
            <a:srgbClr val="E5E9FF">
              <a:alpha val="52941"/>
            </a:srgbClr>
          </a:solidFill>
          <a:ln>
            <a:noFill/>
          </a:ln>
        </p:spPr>
        <p:txBody>
          <a:bodyPr anchorCtr="0" anchor="t"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86" name="Google Shape;186;p12"/>
          <p:cNvSpPr txBox="1"/>
          <p:nvPr/>
        </p:nvSpPr>
        <p:spPr>
          <a:xfrm>
            <a:off x="990600" y="3261475"/>
            <a:ext cx="8016300" cy="6400200"/>
          </a:xfrm>
          <a:prstGeom prst="rect">
            <a:avLst/>
          </a:prstGeom>
          <a:noFill/>
          <a:ln>
            <a:noFill/>
          </a:ln>
        </p:spPr>
        <p:txBody>
          <a:bodyPr anchorCtr="0" anchor="t" bIns="0" lIns="0" spcFirstLastPara="1" rIns="0" wrap="square" tIns="0">
            <a:noAutofit/>
          </a:bodyPr>
          <a:lstStyle/>
          <a:p>
            <a:pPr indent="-406400" lvl="0" marL="45720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The chart illustrates user interaction through comments.</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About 23 users haven’t commented at all, showing low engagement.</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Most users made only 1–2 comments, while a small group posted 7–9 comments.</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Leelawadee"/>
                <a:ea typeface="Leelawadee"/>
                <a:cs typeface="Leelawadee"/>
                <a:sym typeface="Leelawadee"/>
              </a:rPr>
              <a:t>A few outliers, like 13 users with 257 comments, show high activity.</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Leelawadee"/>
              <a:buChar char="❖"/>
            </a:pPr>
            <a:r>
              <a:rPr lang="en-US" sz="2800">
                <a:solidFill>
                  <a:schemeClr val="dk1"/>
                </a:solidFill>
                <a:latin typeface="Leelawadee"/>
                <a:ea typeface="Leelawadee"/>
                <a:cs typeface="Leelawadee"/>
                <a:sym typeface="Leelawadee"/>
              </a:rPr>
              <a:t>Overall, commenting is limited, with only a small portion of users actively participating.</a:t>
            </a:r>
            <a:endParaRPr sz="2800">
              <a:solidFill>
                <a:schemeClr val="dk1"/>
              </a:solidFill>
              <a:latin typeface="Leelawadee"/>
              <a:ea typeface="Leelawadee"/>
              <a:cs typeface="Leelawadee"/>
              <a:sym typeface="Leelawadee"/>
            </a:endParaRPr>
          </a:p>
        </p:txBody>
      </p:sp>
      <p:sp>
        <p:nvSpPr>
          <p:cNvPr id="187" name="Google Shape;187;p12"/>
          <p:cNvSpPr txBox="1"/>
          <p:nvPr/>
        </p:nvSpPr>
        <p:spPr>
          <a:xfrm>
            <a:off x="920675" y="647700"/>
            <a:ext cx="166053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User Activity On Comments</a:t>
            </a:r>
            <a:endParaRPr b="1" sz="8000">
              <a:solidFill>
                <a:srgbClr val="1155CC"/>
              </a:solidFill>
              <a:latin typeface="Leelawadee"/>
              <a:ea typeface="Leelawadee"/>
              <a:cs typeface="Leelawadee"/>
              <a:sym typeface="Leelawadee"/>
            </a:endParaRPr>
          </a:p>
        </p:txBody>
      </p:sp>
      <p:graphicFrame>
        <p:nvGraphicFramePr>
          <p:cNvPr id="188" name="Google Shape;188;p12"/>
          <p:cNvGraphicFramePr/>
          <p:nvPr/>
        </p:nvGraphicFramePr>
        <p:xfrm>
          <a:off x="16687800" y="5219700"/>
          <a:ext cx="45719" cy="45719"/>
        </p:xfrm>
        <a:graphic>
          <a:graphicData uri="http://schemas.openxmlformats.org/drawingml/2006/chart">
            <c:chart r:id="rId3"/>
          </a:graphicData>
        </a:graphic>
      </p:graphicFrame>
      <p:graphicFrame>
        <p:nvGraphicFramePr>
          <p:cNvPr id="189" name="Google Shape;189;p12"/>
          <p:cNvGraphicFramePr/>
          <p:nvPr/>
        </p:nvGraphicFramePr>
        <p:xfrm>
          <a:off x="13030200" y="5219700"/>
          <a:ext cx="152400" cy="45719"/>
        </p:xfrm>
        <a:graphic>
          <a:graphicData uri="http://schemas.openxmlformats.org/drawingml/2006/chart">
            <c:chart r:id="rId4"/>
          </a:graphicData>
        </a:graphic>
      </p:graphicFrame>
      <p:sp>
        <p:nvSpPr>
          <p:cNvPr id="190" name="Google Shape;190;p12"/>
          <p:cNvSpPr/>
          <p:nvPr/>
        </p:nvSpPr>
        <p:spPr>
          <a:xfrm>
            <a:off x="9458967" y="3894236"/>
            <a:ext cx="8334600" cy="5044200"/>
          </a:xfrm>
          <a:prstGeom prst="roundRect">
            <a:avLst>
              <a:gd fmla="val 5735"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91" name="Google Shape;191;p12"/>
          <p:cNvPicPr preferRelativeResize="0"/>
          <p:nvPr/>
        </p:nvPicPr>
        <p:blipFill rotWithShape="1">
          <a:blip r:embed="rId5">
            <a:alphaModFix/>
          </a:blip>
          <a:srcRect b="0" l="0" r="0" t="0"/>
          <a:stretch/>
        </p:blipFill>
        <p:spPr>
          <a:xfrm>
            <a:off x="9681605" y="4292307"/>
            <a:ext cx="7863825" cy="4302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p:nvPr/>
        </p:nvSpPr>
        <p:spPr>
          <a:xfrm>
            <a:off x="0" y="2473325"/>
            <a:ext cx="18288000" cy="7813800"/>
          </a:xfrm>
          <a:prstGeom prst="rect">
            <a:avLst/>
          </a:prstGeom>
          <a:solidFill>
            <a:srgbClr val="E5E9FF">
              <a:alpha val="52941"/>
            </a:srgbClr>
          </a:solidFill>
          <a:ln>
            <a:noFill/>
          </a:ln>
        </p:spPr>
        <p:txBody>
          <a:bodyPr anchorCtr="0" anchor="t"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97" name="Google Shape;197;p13"/>
          <p:cNvSpPr txBox="1"/>
          <p:nvPr/>
        </p:nvSpPr>
        <p:spPr>
          <a:xfrm>
            <a:off x="8518875" y="2936050"/>
            <a:ext cx="9166200" cy="6942300"/>
          </a:xfrm>
          <a:prstGeom prst="rect">
            <a:avLst/>
          </a:prstGeom>
          <a:noFill/>
          <a:ln>
            <a:noFill/>
          </a:ln>
        </p:spPr>
        <p:txBody>
          <a:bodyPr anchorCtr="0" anchor="t" bIns="0" lIns="0" spcFirstLastPara="1" rIns="0" wrap="square" tIns="0">
            <a:noAutofit/>
          </a:bodyPr>
          <a:lstStyle/>
          <a:p>
            <a:pPr indent="-406400" lvl="0" marL="457200" rtl="0" algn="l">
              <a:lnSpc>
                <a:spcPct val="150000"/>
              </a:lnSpc>
              <a:spcBef>
                <a:spcPts val="0"/>
              </a:spcBef>
              <a:spcAft>
                <a:spcPts val="0"/>
              </a:spcAft>
              <a:buClr>
                <a:schemeClr val="dk1"/>
              </a:buClr>
              <a:buSzPts val="2800"/>
              <a:buFont typeface="Leelawadee"/>
              <a:buChar char="❖"/>
            </a:pPr>
            <a:r>
              <a:rPr lang="en-US" sz="2800">
                <a:solidFill>
                  <a:schemeClr val="dk1"/>
                </a:solidFill>
                <a:latin typeface="Leelawadee"/>
                <a:ea typeface="Leelawadee"/>
                <a:cs typeface="Leelawadee"/>
                <a:sym typeface="Leelawadee"/>
              </a:rPr>
              <a:t>The chart shows consistent engagement across all hashtags, ranging from 63–65.</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Beauty</a:t>
            </a:r>
            <a:r>
              <a:rPr lang="en-US" sz="2800">
                <a:solidFill>
                  <a:schemeClr val="dk1"/>
                </a:solidFill>
                <a:latin typeface="Leelawadee"/>
                <a:ea typeface="Leelawadee"/>
                <a:cs typeface="Leelawadee"/>
                <a:sym typeface="Leelawadee"/>
              </a:rPr>
              <a:t>, </a:t>
            </a:r>
            <a:r>
              <a:rPr b="1" lang="en-US" sz="2800">
                <a:solidFill>
                  <a:schemeClr val="dk1"/>
                </a:solidFill>
                <a:latin typeface="Leelawadee"/>
                <a:ea typeface="Leelawadee"/>
                <a:cs typeface="Leelawadee"/>
                <a:sym typeface="Leelawadee"/>
              </a:rPr>
              <a:t>delicious</a:t>
            </a:r>
            <a:r>
              <a:rPr lang="en-US" sz="2800">
                <a:solidFill>
                  <a:schemeClr val="dk1"/>
                </a:solidFill>
                <a:latin typeface="Leelawadee"/>
                <a:ea typeface="Leelawadee"/>
                <a:cs typeface="Leelawadee"/>
                <a:sym typeface="Leelawadee"/>
              </a:rPr>
              <a:t>, and </a:t>
            </a:r>
            <a:r>
              <a:rPr b="1" lang="en-US" sz="2800">
                <a:solidFill>
                  <a:schemeClr val="dk1"/>
                </a:solidFill>
                <a:latin typeface="Leelawadee"/>
                <a:ea typeface="Leelawadee"/>
                <a:cs typeface="Leelawadee"/>
                <a:sym typeface="Leelawadee"/>
              </a:rPr>
              <a:t>foodie</a:t>
            </a:r>
            <a:r>
              <a:rPr lang="en-US" sz="2800">
                <a:solidFill>
                  <a:schemeClr val="dk1"/>
                </a:solidFill>
                <a:latin typeface="Leelawadee"/>
                <a:ea typeface="Leelawadee"/>
                <a:cs typeface="Leelawadee"/>
                <a:sym typeface="Leelawadee"/>
              </a:rPr>
              <a:t> lead with the highest engagement at 65, while hashtags like </a:t>
            </a:r>
            <a:r>
              <a:rPr b="1" lang="en-US" sz="2800">
                <a:solidFill>
                  <a:schemeClr val="dk1"/>
                </a:solidFill>
                <a:latin typeface="Leelawadee"/>
                <a:ea typeface="Leelawadee"/>
                <a:cs typeface="Leelawadee"/>
                <a:sym typeface="Leelawadee"/>
              </a:rPr>
              <a:t>dreamy</a:t>
            </a:r>
            <a:r>
              <a:rPr lang="en-US" sz="2800">
                <a:solidFill>
                  <a:schemeClr val="dk1"/>
                </a:solidFill>
                <a:latin typeface="Leelawadee"/>
                <a:ea typeface="Leelawadee"/>
                <a:cs typeface="Leelawadee"/>
                <a:sym typeface="Leelawadee"/>
              </a:rPr>
              <a:t>, </a:t>
            </a:r>
            <a:r>
              <a:rPr b="1" lang="en-US" sz="2800">
                <a:solidFill>
                  <a:schemeClr val="dk1"/>
                </a:solidFill>
                <a:latin typeface="Leelawadee"/>
                <a:ea typeface="Leelawadee"/>
                <a:cs typeface="Leelawadee"/>
                <a:sym typeface="Leelawadee"/>
              </a:rPr>
              <a:t>food</a:t>
            </a:r>
            <a:r>
              <a:rPr lang="en-US" sz="2800">
                <a:solidFill>
                  <a:schemeClr val="dk1"/>
                </a:solidFill>
                <a:latin typeface="Leelawadee"/>
                <a:ea typeface="Leelawadee"/>
                <a:cs typeface="Leelawadee"/>
                <a:sym typeface="Leelawadee"/>
              </a:rPr>
              <a:t>, </a:t>
            </a:r>
            <a:r>
              <a:rPr b="1" lang="en-US" sz="2800">
                <a:solidFill>
                  <a:schemeClr val="dk1"/>
                </a:solidFill>
                <a:latin typeface="Leelawadee"/>
                <a:ea typeface="Leelawadee"/>
                <a:cs typeface="Leelawadee"/>
                <a:sym typeface="Leelawadee"/>
              </a:rPr>
              <a:t>photography</a:t>
            </a:r>
            <a:r>
              <a:rPr lang="en-US" sz="2800">
                <a:solidFill>
                  <a:schemeClr val="dk1"/>
                </a:solidFill>
                <a:latin typeface="Leelawadee"/>
                <a:ea typeface="Leelawadee"/>
                <a:cs typeface="Leelawadee"/>
                <a:sym typeface="Leelawadee"/>
              </a:rPr>
              <a:t>, </a:t>
            </a:r>
            <a:r>
              <a:rPr b="1" lang="en-US" sz="2800">
                <a:solidFill>
                  <a:schemeClr val="dk1"/>
                </a:solidFill>
                <a:latin typeface="Leelawadee"/>
                <a:ea typeface="Leelawadee"/>
                <a:cs typeface="Leelawadee"/>
                <a:sym typeface="Leelawadee"/>
              </a:rPr>
              <a:t>smile</a:t>
            </a:r>
            <a:r>
              <a:rPr lang="en-US" sz="2800">
                <a:solidFill>
                  <a:schemeClr val="dk1"/>
                </a:solidFill>
                <a:latin typeface="Leelawadee"/>
                <a:ea typeface="Leelawadee"/>
                <a:cs typeface="Leelawadee"/>
                <a:sym typeface="Leelawadee"/>
              </a:rPr>
              <a:t>, </a:t>
            </a:r>
            <a:r>
              <a:rPr b="1" lang="en-US" sz="2800">
                <a:solidFill>
                  <a:schemeClr val="dk1"/>
                </a:solidFill>
                <a:latin typeface="Leelawadee"/>
                <a:ea typeface="Leelawadee"/>
                <a:cs typeface="Leelawadee"/>
                <a:sym typeface="Leelawadee"/>
              </a:rPr>
              <a:t>stunning</a:t>
            </a:r>
            <a:r>
              <a:rPr lang="en-US" sz="2800">
                <a:solidFill>
                  <a:schemeClr val="dk1"/>
                </a:solidFill>
                <a:latin typeface="Leelawadee"/>
                <a:ea typeface="Leelawadee"/>
                <a:cs typeface="Leelawadee"/>
                <a:sym typeface="Leelawadee"/>
              </a:rPr>
              <a:t>, and </a:t>
            </a:r>
            <a:r>
              <a:rPr b="1" lang="en-US" sz="2800">
                <a:solidFill>
                  <a:schemeClr val="dk1"/>
                </a:solidFill>
                <a:latin typeface="Leelawadee"/>
                <a:ea typeface="Leelawadee"/>
                <a:cs typeface="Leelawadee"/>
                <a:sym typeface="Leelawadee"/>
              </a:rPr>
              <a:t>sunset</a:t>
            </a:r>
            <a:r>
              <a:rPr lang="en-US" sz="2800">
                <a:solidFill>
                  <a:schemeClr val="dk1"/>
                </a:solidFill>
                <a:latin typeface="Leelawadee"/>
                <a:ea typeface="Leelawadee"/>
                <a:cs typeface="Leelawadee"/>
                <a:sym typeface="Leelawadee"/>
              </a:rPr>
              <a:t> follow closely at 64.</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Noto Sans Symbols"/>
              <a:buChar char="❖"/>
            </a:pPr>
            <a:r>
              <a:rPr b="1" lang="en-US" sz="2800">
                <a:solidFill>
                  <a:schemeClr val="dk1"/>
                </a:solidFill>
                <a:latin typeface="Leelawadee"/>
                <a:ea typeface="Leelawadee"/>
                <a:cs typeface="Leelawadee"/>
                <a:sym typeface="Leelawadee"/>
              </a:rPr>
              <a:t>Beach</a:t>
            </a:r>
            <a:r>
              <a:rPr lang="en-US" sz="2800">
                <a:solidFill>
                  <a:schemeClr val="dk1"/>
                </a:solidFill>
                <a:latin typeface="Leelawadee"/>
                <a:ea typeface="Leelawadee"/>
                <a:cs typeface="Leelawadee"/>
                <a:sym typeface="Leelawadee"/>
              </a:rPr>
              <a:t> records slightly lower engagement at 63 but remains comparable.</a:t>
            </a:r>
            <a:endParaRPr sz="2800">
              <a:solidFill>
                <a:schemeClr val="dk1"/>
              </a:solidFill>
              <a:latin typeface="Leelawadee"/>
              <a:ea typeface="Leelawadee"/>
              <a:cs typeface="Leelawadee"/>
              <a:sym typeface="Leelawadee"/>
            </a:endParaRPr>
          </a:p>
          <a:p>
            <a:pPr indent="-406400" lvl="0" marL="457200" rtl="0" algn="l">
              <a:lnSpc>
                <a:spcPct val="150000"/>
              </a:lnSpc>
              <a:spcBef>
                <a:spcPts val="0"/>
              </a:spcBef>
              <a:spcAft>
                <a:spcPts val="0"/>
              </a:spcAft>
              <a:buClr>
                <a:schemeClr val="dk1"/>
              </a:buClr>
              <a:buSzPts val="2800"/>
              <a:buFont typeface="Leelawadee"/>
              <a:buChar char="❖"/>
            </a:pPr>
            <a:r>
              <a:rPr lang="en-US" sz="2800">
                <a:solidFill>
                  <a:schemeClr val="dk1"/>
                </a:solidFill>
                <a:latin typeface="Leelawadee"/>
                <a:ea typeface="Leelawadee"/>
                <a:cs typeface="Leelawadee"/>
                <a:sym typeface="Leelawadee"/>
              </a:rPr>
              <a:t>Overall, users show strong interest in lifestyle, food, and visual themes—insights that can guide targeted content and campaigns to enhance engagement.</a:t>
            </a:r>
            <a:endParaRPr sz="2800">
              <a:solidFill>
                <a:schemeClr val="dk1"/>
              </a:solidFill>
              <a:latin typeface="Leelawadee"/>
              <a:ea typeface="Leelawadee"/>
              <a:cs typeface="Leelawadee"/>
              <a:sym typeface="Leelawadee"/>
            </a:endParaRPr>
          </a:p>
        </p:txBody>
      </p:sp>
      <p:sp>
        <p:nvSpPr>
          <p:cNvPr id="198" name="Google Shape;198;p13"/>
          <p:cNvSpPr txBox="1"/>
          <p:nvPr/>
        </p:nvSpPr>
        <p:spPr>
          <a:xfrm>
            <a:off x="920675" y="647700"/>
            <a:ext cx="166053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Hashtags vs Engagement</a:t>
            </a:r>
            <a:endParaRPr/>
          </a:p>
        </p:txBody>
      </p:sp>
      <p:sp>
        <p:nvSpPr>
          <p:cNvPr id="199" name="Google Shape;199;p13"/>
          <p:cNvSpPr/>
          <p:nvPr/>
        </p:nvSpPr>
        <p:spPr>
          <a:xfrm>
            <a:off x="979875" y="3912316"/>
            <a:ext cx="7086900" cy="5080200"/>
          </a:xfrm>
          <a:prstGeom prst="roundRect">
            <a:avLst>
              <a:gd fmla="val 4636"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aphicFrame>
        <p:nvGraphicFramePr>
          <p:cNvPr id="200" name="Google Shape;200;p13"/>
          <p:cNvGraphicFramePr/>
          <p:nvPr/>
        </p:nvGraphicFramePr>
        <p:xfrm>
          <a:off x="1261987" y="4449087"/>
          <a:ext cx="6523200" cy="4037100"/>
        </p:xfrm>
        <a:graphic>
          <a:graphicData uri="http://schemas.openxmlformats.org/drawingml/2006/chart">
            <c:chart r:id="rId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9b0a5b6a81_0_11"/>
          <p:cNvSpPr/>
          <p:nvPr/>
        </p:nvSpPr>
        <p:spPr>
          <a:xfrm>
            <a:off x="0" y="2473325"/>
            <a:ext cx="18288000" cy="7813800"/>
          </a:xfrm>
          <a:prstGeom prst="rect">
            <a:avLst/>
          </a:prstGeom>
          <a:solidFill>
            <a:srgbClr val="E5E9FF">
              <a:alpha val="52940"/>
            </a:srgbClr>
          </a:solidFill>
          <a:ln>
            <a:noFill/>
          </a:ln>
        </p:spPr>
        <p:txBody>
          <a:bodyPr anchorCtr="0" anchor="ctr"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206" name="Google Shape;206;g39b0a5b6a81_0_11"/>
          <p:cNvSpPr txBox="1"/>
          <p:nvPr/>
        </p:nvSpPr>
        <p:spPr>
          <a:xfrm>
            <a:off x="990600" y="3098767"/>
            <a:ext cx="13910100" cy="6624600"/>
          </a:xfrm>
          <a:prstGeom prst="rect">
            <a:avLst/>
          </a:prstGeom>
          <a:noFill/>
          <a:ln>
            <a:noFill/>
          </a:ln>
        </p:spPr>
        <p:txBody>
          <a:bodyPr anchorCtr="0" anchor="t" bIns="45700" lIns="91425" spcFirstLastPara="1" rIns="91425" wrap="square" tIns="45700">
            <a:noAutofit/>
          </a:bodyPr>
          <a:lstStyle/>
          <a:p>
            <a:pPr indent="-406400" lvl="0" marL="457200" rtl="0" algn="l">
              <a:lnSpc>
                <a:spcPct val="120000"/>
              </a:lnSpc>
              <a:spcBef>
                <a:spcPts val="1200"/>
              </a:spcBef>
              <a:spcAft>
                <a:spcPts val="0"/>
              </a:spcAft>
              <a:buClr>
                <a:schemeClr val="dk1"/>
              </a:buClr>
              <a:buSzPts val="2800"/>
              <a:buFont typeface="Leelawadee"/>
              <a:buChar char="❖"/>
            </a:pPr>
            <a:r>
              <a:rPr b="1" lang="en-US" sz="2800">
                <a:solidFill>
                  <a:schemeClr val="dk1"/>
                </a:solidFill>
                <a:latin typeface="Leelawadee"/>
                <a:ea typeface="Leelawadee"/>
                <a:cs typeface="Leelawadee"/>
                <a:sym typeface="Leelawadee"/>
              </a:rPr>
              <a:t>Re-Engagement Campaigns</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 Recommend personalized posts, hashtags, and user accounts based on previous activity to encourage users to reconnect with the platform.</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0"/>
              </a:spcAft>
              <a:buClr>
                <a:schemeClr val="dk1"/>
              </a:buClr>
              <a:buSzPts val="2800"/>
              <a:buFont typeface="Leelawadee"/>
              <a:buChar char="❖"/>
            </a:pPr>
            <a:r>
              <a:rPr b="1" lang="en-US" sz="2800">
                <a:solidFill>
                  <a:schemeClr val="dk1"/>
                </a:solidFill>
                <a:latin typeface="Leelawadee"/>
                <a:ea typeface="Leelawadee"/>
                <a:cs typeface="Leelawadee"/>
                <a:sym typeface="Leelawadee"/>
              </a:rPr>
              <a:t>Exclusive Incentives</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 Provide time-limited discounts on premium features to motivate users to return and re-engage.</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0"/>
              </a:spcAft>
              <a:buClr>
                <a:schemeClr val="dk1"/>
              </a:buClr>
              <a:buSzPts val="2800"/>
              <a:buFont typeface="Leelawadee"/>
              <a:buChar char="❖"/>
            </a:pPr>
            <a:r>
              <a:rPr b="1" lang="en-US" sz="2800">
                <a:solidFill>
                  <a:schemeClr val="dk1"/>
                </a:solidFill>
                <a:latin typeface="Leelawadee"/>
                <a:ea typeface="Leelawadee"/>
                <a:cs typeface="Leelawadee"/>
                <a:sym typeface="Leelawadee"/>
              </a:rPr>
              <a:t>Content Discovery Tools</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 Develop short tutorials showcasing new features and trending content to help users explore the platform with ease.</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1000"/>
              </a:spcAft>
              <a:buClr>
                <a:schemeClr val="dk1"/>
              </a:buClr>
              <a:buSzPts val="2800"/>
              <a:buFont typeface="Leelawadee"/>
              <a:buChar char="❖"/>
            </a:pPr>
            <a:r>
              <a:rPr b="1" lang="en-US" sz="2800">
                <a:solidFill>
                  <a:schemeClr val="dk1"/>
                </a:solidFill>
                <a:latin typeface="Leelawadee"/>
                <a:ea typeface="Leelawadee"/>
                <a:cs typeface="Leelawadee"/>
                <a:sym typeface="Leelawadee"/>
              </a:rPr>
              <a:t>Feedback and Surveys</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 Distribute quick surveys to inactive users to identify reasons for disengagement, offering incentives to gather valuable insights for improving retention.</a:t>
            </a:r>
            <a:endParaRPr b="1" sz="2800">
              <a:solidFill>
                <a:schemeClr val="dk1"/>
              </a:solidFill>
              <a:latin typeface="Leelawadee"/>
              <a:ea typeface="Leelawadee"/>
              <a:cs typeface="Leelawadee"/>
              <a:sym typeface="Leelawadee"/>
            </a:endParaRPr>
          </a:p>
        </p:txBody>
      </p:sp>
      <p:sp>
        <p:nvSpPr>
          <p:cNvPr id="207" name="Google Shape;207;g39b0a5b6a81_0_11"/>
          <p:cNvSpPr txBox="1"/>
          <p:nvPr/>
        </p:nvSpPr>
        <p:spPr>
          <a:xfrm>
            <a:off x="954442" y="635800"/>
            <a:ext cx="149226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User Retention</a:t>
            </a:r>
            <a:endParaRPr b="1" sz="8000">
              <a:solidFill>
                <a:srgbClr val="1155CC"/>
              </a:solidFill>
              <a:latin typeface="Leelawadee"/>
              <a:ea typeface="Leelawadee"/>
              <a:cs typeface="Leelawadee"/>
              <a:sym typeface="Leelawadee"/>
            </a:endParaRPr>
          </a:p>
        </p:txBody>
      </p:sp>
      <p:pic>
        <p:nvPicPr>
          <p:cNvPr id="208" name="Google Shape;208;g39b0a5b6a81_0_11" title="002-refresh-user-sign.png"/>
          <p:cNvPicPr preferRelativeResize="0"/>
          <p:nvPr/>
        </p:nvPicPr>
        <p:blipFill>
          <a:blip r:embed="rId3">
            <a:alphaModFix/>
          </a:blip>
          <a:stretch>
            <a:fillRect/>
          </a:stretch>
        </p:blipFill>
        <p:spPr>
          <a:xfrm>
            <a:off x="15253901" y="7058075"/>
            <a:ext cx="2358700" cy="235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4"/>
          <p:cNvSpPr/>
          <p:nvPr/>
        </p:nvSpPr>
        <p:spPr>
          <a:xfrm>
            <a:off x="0" y="2476500"/>
            <a:ext cx="18288000" cy="7813800"/>
          </a:xfrm>
          <a:prstGeom prst="rect">
            <a:avLst/>
          </a:prstGeom>
          <a:solidFill>
            <a:srgbClr val="E5E9FF">
              <a:alpha val="5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14"/>
          <p:cNvSpPr txBox="1"/>
          <p:nvPr/>
        </p:nvSpPr>
        <p:spPr>
          <a:xfrm>
            <a:off x="954442" y="647700"/>
            <a:ext cx="172974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User Acquisition</a:t>
            </a:r>
            <a:endParaRPr b="1" sz="8000">
              <a:solidFill>
                <a:srgbClr val="1155CC"/>
              </a:solidFill>
              <a:latin typeface="Leelawadee"/>
              <a:ea typeface="Leelawadee"/>
              <a:cs typeface="Leelawadee"/>
              <a:sym typeface="Leelawadee"/>
            </a:endParaRPr>
          </a:p>
        </p:txBody>
      </p:sp>
      <p:sp>
        <p:nvSpPr>
          <p:cNvPr id="215" name="Google Shape;215;p14"/>
          <p:cNvSpPr txBox="1"/>
          <p:nvPr/>
        </p:nvSpPr>
        <p:spPr>
          <a:xfrm>
            <a:off x="4414900" y="3080675"/>
            <a:ext cx="13053300" cy="6634800"/>
          </a:xfrm>
          <a:prstGeom prst="rect">
            <a:avLst/>
          </a:prstGeom>
          <a:noFill/>
          <a:ln>
            <a:noFill/>
          </a:ln>
        </p:spPr>
        <p:txBody>
          <a:bodyPr anchorCtr="0" anchor="t" bIns="45700" lIns="91425" spcFirstLastPara="1" rIns="91425" wrap="square" tIns="45700">
            <a:noAutofit/>
          </a:bodyPr>
          <a:lstStyle/>
          <a:p>
            <a:pPr indent="-406400" lvl="0" marL="457200" rtl="0" algn="l">
              <a:lnSpc>
                <a:spcPct val="120000"/>
              </a:lnSpc>
              <a:spcBef>
                <a:spcPts val="1200"/>
              </a:spcBef>
              <a:spcAft>
                <a:spcPts val="0"/>
              </a:spcAft>
              <a:buClr>
                <a:schemeClr val="dk1"/>
              </a:buClr>
              <a:buSzPts val="2800"/>
              <a:buChar char="❖"/>
            </a:pPr>
            <a:r>
              <a:rPr b="1" lang="en-US" sz="2800">
                <a:solidFill>
                  <a:schemeClr val="dk1"/>
                </a:solidFill>
                <a:latin typeface="Leelawadee"/>
                <a:ea typeface="Leelawadee"/>
                <a:cs typeface="Leelawadee"/>
                <a:sym typeface="Leelawadee"/>
              </a:rPr>
              <a:t>Personalized Onboarding</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Create a customized onboarding flow for new users, showcasing key features, trending hashtags, and success stories to enhance initial engagement.</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0"/>
              </a:spcAft>
              <a:buClr>
                <a:schemeClr val="dk1"/>
              </a:buClr>
              <a:buSzPts val="2800"/>
              <a:buChar char="❖"/>
            </a:pPr>
            <a:r>
              <a:rPr b="1" lang="en-US" sz="2800">
                <a:solidFill>
                  <a:schemeClr val="dk1"/>
                </a:solidFill>
                <a:latin typeface="Leelawadee"/>
                <a:ea typeface="Leelawadee"/>
                <a:cs typeface="Leelawadee"/>
                <a:sym typeface="Leelawadee"/>
              </a:rPr>
              <a:t>Hashtag Education Campaigns</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Introduce blog posts and video tutorials to educate users on effective tag usage and its impact on visibility and engagement.</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0"/>
              </a:spcAft>
              <a:buClr>
                <a:schemeClr val="dk1"/>
              </a:buClr>
              <a:buSzPts val="2800"/>
              <a:buChar char="❖"/>
            </a:pPr>
            <a:r>
              <a:rPr b="1" lang="en-US" sz="2800">
                <a:solidFill>
                  <a:schemeClr val="dk1"/>
                </a:solidFill>
                <a:latin typeface="Leelawadee"/>
                <a:ea typeface="Leelawadee"/>
                <a:cs typeface="Leelawadee"/>
                <a:sym typeface="Leelawadee"/>
              </a:rPr>
              <a:t>Referral Rewards</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Implement a referral program offering discounts or exclusive content to users who successfully invite new members.</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1000"/>
              </a:spcAft>
              <a:buClr>
                <a:schemeClr val="dk1"/>
              </a:buClr>
              <a:buSzPts val="2800"/>
              <a:buChar char="❖"/>
            </a:pPr>
            <a:r>
              <a:rPr b="1" lang="en-US" sz="2800">
                <a:solidFill>
                  <a:schemeClr val="dk1"/>
                </a:solidFill>
                <a:latin typeface="Leelawadee"/>
                <a:ea typeface="Leelawadee"/>
                <a:cs typeface="Leelawadee"/>
                <a:sym typeface="Leelawadee"/>
              </a:rPr>
              <a:t>Engagement Enhancers</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Send tailored emails featuring new features, trending topics, and helpful tutorials to keep users active and engaged.</a:t>
            </a:r>
            <a:endParaRPr b="1" sz="2800">
              <a:solidFill>
                <a:schemeClr val="dk1"/>
              </a:solidFill>
              <a:latin typeface="Leelawadee"/>
              <a:ea typeface="Leelawadee"/>
              <a:cs typeface="Leelawadee"/>
              <a:sym typeface="Leelawadee"/>
            </a:endParaRPr>
          </a:p>
        </p:txBody>
      </p:sp>
      <p:pic>
        <p:nvPicPr>
          <p:cNvPr id="216" name="Google Shape;216;p14" title="001-customer.png"/>
          <p:cNvPicPr preferRelativeResize="0"/>
          <p:nvPr/>
        </p:nvPicPr>
        <p:blipFill>
          <a:blip r:embed="rId3">
            <a:alphaModFix/>
          </a:blip>
          <a:stretch>
            <a:fillRect/>
          </a:stretch>
        </p:blipFill>
        <p:spPr>
          <a:xfrm>
            <a:off x="1305325" y="4961671"/>
            <a:ext cx="2458750" cy="2458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5"/>
          <p:cNvSpPr/>
          <p:nvPr/>
        </p:nvSpPr>
        <p:spPr>
          <a:xfrm>
            <a:off x="0" y="2473325"/>
            <a:ext cx="18288000" cy="7813675"/>
          </a:xfrm>
          <a:prstGeom prst="rect">
            <a:avLst/>
          </a:prstGeom>
          <a:solidFill>
            <a:srgbClr val="E5E9FF">
              <a:alpha val="52941"/>
            </a:srgbClr>
          </a:solidFill>
          <a:ln>
            <a:noFill/>
          </a:ln>
        </p:spPr>
        <p:txBody>
          <a:bodyPr anchorCtr="0" anchor="ctr"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222" name="Google Shape;222;p15"/>
          <p:cNvSpPr txBox="1"/>
          <p:nvPr/>
        </p:nvSpPr>
        <p:spPr>
          <a:xfrm>
            <a:off x="990600" y="3009900"/>
            <a:ext cx="14091000" cy="6629400"/>
          </a:xfrm>
          <a:prstGeom prst="rect">
            <a:avLst/>
          </a:prstGeom>
          <a:noFill/>
          <a:ln>
            <a:noFill/>
          </a:ln>
        </p:spPr>
        <p:txBody>
          <a:bodyPr anchorCtr="0" anchor="t" bIns="45700" lIns="91425" spcFirstLastPara="1" rIns="91425" wrap="square" tIns="45700">
            <a:noAutofit/>
          </a:bodyPr>
          <a:lstStyle/>
          <a:p>
            <a:pPr indent="-406400" lvl="0" marL="457200" rtl="0" algn="l">
              <a:lnSpc>
                <a:spcPct val="120000"/>
              </a:lnSpc>
              <a:spcBef>
                <a:spcPts val="1200"/>
              </a:spcBef>
              <a:spcAft>
                <a:spcPts val="0"/>
              </a:spcAft>
              <a:buClr>
                <a:schemeClr val="dk1"/>
              </a:buClr>
              <a:buSzPts val="2800"/>
              <a:buChar char="❖"/>
            </a:pPr>
            <a:r>
              <a:rPr b="1" lang="en-US" sz="2800">
                <a:solidFill>
                  <a:schemeClr val="dk1"/>
                </a:solidFill>
                <a:latin typeface="Leelawadee"/>
                <a:ea typeface="Leelawadee"/>
                <a:cs typeface="Leelawadee"/>
                <a:sym typeface="Leelawadee"/>
              </a:rPr>
              <a:t>User Recognition Programs</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Launch initiatives like </a:t>
            </a:r>
            <a:r>
              <a:rPr i="1" lang="en-US" sz="2800">
                <a:solidFill>
                  <a:schemeClr val="dk1"/>
                </a:solidFill>
                <a:latin typeface="Leelawadee"/>
                <a:ea typeface="Leelawadee"/>
                <a:cs typeface="Leelawadee"/>
                <a:sym typeface="Leelawadee"/>
              </a:rPr>
              <a:t>“User of the Month”</a:t>
            </a:r>
            <a:r>
              <a:rPr lang="en-US" sz="2800">
                <a:solidFill>
                  <a:schemeClr val="dk1"/>
                </a:solidFill>
                <a:latin typeface="Leelawadee"/>
                <a:ea typeface="Leelawadee"/>
                <a:cs typeface="Leelawadee"/>
                <a:sym typeface="Leelawadee"/>
              </a:rPr>
              <a:t> and photo contests to celebrate active users and drive higher engagement.</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0"/>
              </a:spcAft>
              <a:buClr>
                <a:schemeClr val="dk1"/>
              </a:buClr>
              <a:buSzPts val="2800"/>
              <a:buChar char="❖"/>
            </a:pPr>
            <a:r>
              <a:rPr b="1" lang="en-US" sz="2800">
                <a:solidFill>
                  <a:schemeClr val="dk1"/>
                </a:solidFill>
                <a:latin typeface="Leelawadee"/>
                <a:ea typeface="Leelawadee"/>
                <a:cs typeface="Leelawadee"/>
                <a:sym typeface="Leelawadee"/>
              </a:rPr>
              <a:t>Learning Resources</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Provide tutorials, guides, and webinars to help users optimize engagement and fully utilize platform features.</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0"/>
              </a:spcAft>
              <a:buClr>
                <a:schemeClr val="dk1"/>
              </a:buClr>
              <a:buSzPts val="2800"/>
              <a:buChar char="❖"/>
            </a:pPr>
            <a:r>
              <a:rPr b="1" lang="en-US" sz="2800">
                <a:solidFill>
                  <a:schemeClr val="dk1"/>
                </a:solidFill>
                <a:latin typeface="Leelawadee"/>
                <a:ea typeface="Leelawadee"/>
                <a:cs typeface="Leelawadee"/>
                <a:sym typeface="Leelawadee"/>
              </a:rPr>
              <a:t>Community Building</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Establish forums, host virtual events, and introduce an ambassador program to foster collaboration and strengthen the user community.</a:t>
            </a:r>
            <a:endParaRPr sz="2800">
              <a:solidFill>
                <a:schemeClr val="dk1"/>
              </a:solidFill>
              <a:latin typeface="Leelawadee"/>
              <a:ea typeface="Leelawadee"/>
              <a:cs typeface="Leelawadee"/>
              <a:sym typeface="Leelawadee"/>
            </a:endParaRPr>
          </a:p>
          <a:p>
            <a:pPr indent="-406400" lvl="0" marL="457200" rtl="0" algn="l">
              <a:lnSpc>
                <a:spcPct val="120000"/>
              </a:lnSpc>
              <a:spcBef>
                <a:spcPts val="1200"/>
              </a:spcBef>
              <a:spcAft>
                <a:spcPts val="1000"/>
              </a:spcAft>
              <a:buClr>
                <a:schemeClr val="dk1"/>
              </a:buClr>
              <a:buSzPts val="2800"/>
              <a:buChar char="❖"/>
            </a:pPr>
            <a:r>
              <a:rPr b="1" lang="en-US" sz="2800">
                <a:solidFill>
                  <a:schemeClr val="dk1"/>
                </a:solidFill>
                <a:latin typeface="Leelawadee"/>
                <a:ea typeface="Leelawadee"/>
                <a:cs typeface="Leelawadee"/>
                <a:sym typeface="Leelawadee"/>
              </a:rPr>
              <a:t>Influencer Partnerships</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Collaborate with key influencers to expand reach, attract new users, and encourage active participation among existing members.</a:t>
            </a:r>
            <a:endParaRPr b="1" sz="2800">
              <a:solidFill>
                <a:schemeClr val="dk1"/>
              </a:solidFill>
              <a:latin typeface="Leelawadee"/>
              <a:ea typeface="Leelawadee"/>
              <a:cs typeface="Leelawadee"/>
              <a:sym typeface="Leelawadee"/>
            </a:endParaRPr>
          </a:p>
        </p:txBody>
      </p:sp>
      <p:sp>
        <p:nvSpPr>
          <p:cNvPr id="223" name="Google Shape;223;p15"/>
          <p:cNvSpPr txBox="1"/>
          <p:nvPr/>
        </p:nvSpPr>
        <p:spPr>
          <a:xfrm>
            <a:off x="920675" y="647700"/>
            <a:ext cx="146979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User Engagement</a:t>
            </a:r>
            <a:endParaRPr b="1" sz="8000">
              <a:solidFill>
                <a:srgbClr val="1155CC"/>
              </a:solidFill>
              <a:latin typeface="Leelawadee"/>
              <a:ea typeface="Leelawadee"/>
              <a:cs typeface="Leelawadee"/>
              <a:sym typeface="Leelawadee"/>
            </a:endParaRPr>
          </a:p>
        </p:txBody>
      </p:sp>
      <p:pic>
        <p:nvPicPr>
          <p:cNvPr id="224" name="Google Shape;224;p15" title="003-social-engagement.png"/>
          <p:cNvPicPr preferRelativeResize="0"/>
          <p:nvPr/>
        </p:nvPicPr>
        <p:blipFill>
          <a:blip r:embed="rId3">
            <a:alphaModFix/>
          </a:blip>
          <a:stretch>
            <a:fillRect/>
          </a:stretch>
        </p:blipFill>
        <p:spPr>
          <a:xfrm>
            <a:off x="15475613" y="7148476"/>
            <a:ext cx="2165400" cy="2165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6"/>
          <p:cNvSpPr/>
          <p:nvPr/>
        </p:nvSpPr>
        <p:spPr>
          <a:xfrm>
            <a:off x="0" y="2473325"/>
            <a:ext cx="18288000" cy="7813675"/>
          </a:xfrm>
          <a:prstGeom prst="rect">
            <a:avLst/>
          </a:prstGeom>
          <a:solidFill>
            <a:srgbClr val="E5E9FF">
              <a:alpha val="52941"/>
            </a:srgbClr>
          </a:solidFill>
          <a:ln>
            <a:noFill/>
          </a:ln>
        </p:spPr>
        <p:txBody>
          <a:bodyPr anchorCtr="0" anchor="ctr" bIns="45700" lIns="91425" spcFirstLastPara="1" rIns="91425" wrap="square" tIns="45700">
            <a:noAutofit/>
          </a:bodyPr>
          <a:lstStyle/>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230" name="Google Shape;230;p16"/>
          <p:cNvSpPr/>
          <p:nvPr/>
        </p:nvSpPr>
        <p:spPr>
          <a:xfrm>
            <a:off x="819785" y="446405"/>
            <a:ext cx="16439518" cy="1570990"/>
          </a:xfrm>
          <a:custGeom>
            <a:rect b="b" l="l" r="r" t="t"/>
            <a:pathLst>
              <a:path extrusionOk="0" h="806001" w="5997129">
                <a:moveTo>
                  <a:pt x="0" y="0"/>
                </a:moveTo>
                <a:lnTo>
                  <a:pt x="5997129" y="0"/>
                </a:lnTo>
                <a:lnTo>
                  <a:pt x="5997129" y="806001"/>
                </a:lnTo>
                <a:lnTo>
                  <a:pt x="0" y="806001"/>
                </a:lnTo>
                <a:close/>
              </a:path>
            </a:pathLst>
          </a:custGeom>
          <a:solidFill>
            <a:srgbClr val="FFFFFF"/>
          </a:solidFill>
          <a:ln>
            <a:noFill/>
          </a:ln>
        </p:spPr>
      </p:sp>
      <p:sp>
        <p:nvSpPr>
          <p:cNvPr id="231" name="Google Shape;231;p16"/>
          <p:cNvSpPr txBox="1"/>
          <p:nvPr/>
        </p:nvSpPr>
        <p:spPr>
          <a:xfrm>
            <a:off x="956832" y="647700"/>
            <a:ext cx="14697900" cy="123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0">
                <a:solidFill>
                  <a:srgbClr val="1155CC"/>
                </a:solidFill>
                <a:latin typeface="Leelawadee"/>
                <a:ea typeface="Leelawadee"/>
                <a:cs typeface="Leelawadee"/>
                <a:sym typeface="Leelawadee"/>
              </a:rPr>
              <a:t>Conclusion</a:t>
            </a:r>
            <a:endParaRPr/>
          </a:p>
        </p:txBody>
      </p:sp>
      <p:sp>
        <p:nvSpPr>
          <p:cNvPr id="232" name="Google Shape;232;p16"/>
          <p:cNvSpPr txBox="1"/>
          <p:nvPr/>
        </p:nvSpPr>
        <p:spPr>
          <a:xfrm>
            <a:off x="4324525" y="3207225"/>
            <a:ext cx="13107300" cy="6345900"/>
          </a:xfrm>
          <a:prstGeom prst="rect">
            <a:avLst/>
          </a:prstGeom>
          <a:noFill/>
          <a:ln>
            <a:noFill/>
          </a:ln>
        </p:spPr>
        <p:txBody>
          <a:bodyPr anchorCtr="0" anchor="t" bIns="45700" lIns="91425" spcFirstLastPara="1" rIns="91425" wrap="square" tIns="45700">
            <a:noAutofit/>
          </a:bodyPr>
          <a:lstStyle/>
          <a:p>
            <a:pPr indent="-406400" lvl="0" marL="457200" rtl="0" algn="l">
              <a:lnSpc>
                <a:spcPct val="130000"/>
              </a:lnSpc>
              <a:spcBef>
                <a:spcPts val="1200"/>
              </a:spcBef>
              <a:spcAft>
                <a:spcPts val="0"/>
              </a:spcAft>
              <a:buClr>
                <a:schemeClr val="dk1"/>
              </a:buClr>
              <a:buSzPts val="2800"/>
              <a:buChar char="❖"/>
            </a:pPr>
            <a:r>
              <a:rPr b="1" lang="en-US" sz="2800">
                <a:solidFill>
                  <a:schemeClr val="dk1"/>
                </a:solidFill>
                <a:latin typeface="Leelawadee"/>
                <a:ea typeface="Leelawadee"/>
                <a:cs typeface="Leelawadee"/>
                <a:sym typeface="Leelawadee"/>
              </a:rPr>
              <a:t>User Acquisition</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 Utilize influencer collaborations and ambassador programs to bring in new users, complemented by educational resources to help them engage effectively with the platform.</a:t>
            </a:r>
            <a:endParaRPr sz="2800">
              <a:solidFill>
                <a:schemeClr val="dk1"/>
              </a:solidFill>
              <a:latin typeface="Leelawadee"/>
              <a:ea typeface="Leelawadee"/>
              <a:cs typeface="Leelawadee"/>
              <a:sym typeface="Leelawadee"/>
            </a:endParaRPr>
          </a:p>
          <a:p>
            <a:pPr indent="-406400" lvl="0" marL="457200" rtl="0" algn="l">
              <a:lnSpc>
                <a:spcPct val="130000"/>
              </a:lnSpc>
              <a:spcBef>
                <a:spcPts val="1200"/>
              </a:spcBef>
              <a:spcAft>
                <a:spcPts val="0"/>
              </a:spcAft>
              <a:buClr>
                <a:schemeClr val="dk1"/>
              </a:buClr>
              <a:buSzPts val="2800"/>
              <a:buChar char="❖"/>
            </a:pPr>
            <a:r>
              <a:rPr b="1" lang="en-US" sz="2800">
                <a:solidFill>
                  <a:schemeClr val="dk1"/>
                </a:solidFill>
                <a:latin typeface="Leelawadee"/>
                <a:ea typeface="Leelawadee"/>
                <a:cs typeface="Leelawadee"/>
                <a:sym typeface="Leelawadee"/>
              </a:rPr>
              <a:t>User Retention</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 Implement personalized content suggestions, exclusive offers, and feedback channels to maintain user interest and reduce inactivity.</a:t>
            </a:r>
            <a:endParaRPr sz="2800">
              <a:solidFill>
                <a:schemeClr val="dk1"/>
              </a:solidFill>
              <a:latin typeface="Leelawadee"/>
              <a:ea typeface="Leelawadee"/>
              <a:cs typeface="Leelawadee"/>
              <a:sym typeface="Leelawadee"/>
            </a:endParaRPr>
          </a:p>
          <a:p>
            <a:pPr indent="-406400" lvl="0" marL="457200" rtl="0" algn="l">
              <a:lnSpc>
                <a:spcPct val="130000"/>
              </a:lnSpc>
              <a:spcBef>
                <a:spcPts val="1200"/>
              </a:spcBef>
              <a:spcAft>
                <a:spcPts val="1000"/>
              </a:spcAft>
              <a:buClr>
                <a:schemeClr val="dk1"/>
              </a:buClr>
              <a:buSzPts val="2800"/>
              <a:buChar char="❖"/>
            </a:pPr>
            <a:r>
              <a:rPr b="1" lang="en-US" sz="2800">
                <a:solidFill>
                  <a:schemeClr val="dk1"/>
                </a:solidFill>
                <a:latin typeface="Leelawadee"/>
                <a:ea typeface="Leelawadee"/>
                <a:cs typeface="Leelawadee"/>
                <a:sym typeface="Leelawadee"/>
              </a:rPr>
              <a:t>User Engagement</a:t>
            </a:r>
            <a:br>
              <a:rPr b="1" lang="en-US" sz="2800">
                <a:solidFill>
                  <a:schemeClr val="dk1"/>
                </a:solidFill>
                <a:latin typeface="Leelawadee"/>
                <a:ea typeface="Leelawadee"/>
                <a:cs typeface="Leelawadee"/>
                <a:sym typeface="Leelawadee"/>
              </a:rPr>
            </a:br>
            <a:r>
              <a:rPr lang="en-US" sz="2800">
                <a:solidFill>
                  <a:schemeClr val="dk1"/>
                </a:solidFill>
                <a:latin typeface="Leelawadee"/>
                <a:ea typeface="Leelawadee"/>
                <a:cs typeface="Leelawadee"/>
                <a:sym typeface="Leelawadee"/>
              </a:rPr>
              <a:t> Drive engagement through re-engagement campaigns, hashtag promotion, and community-focused activities to motivate inactive and moderately active users to participate more actively.</a:t>
            </a:r>
            <a:endParaRPr b="1" sz="2800">
              <a:solidFill>
                <a:schemeClr val="dk1"/>
              </a:solidFill>
              <a:latin typeface="Leelawadee"/>
              <a:ea typeface="Leelawadee"/>
              <a:cs typeface="Leelawadee"/>
              <a:sym typeface="Leelawadee"/>
            </a:endParaRPr>
          </a:p>
        </p:txBody>
      </p:sp>
      <p:pic>
        <p:nvPicPr>
          <p:cNvPr id="233" name="Google Shape;233;p16" title="clipboard (1).png"/>
          <p:cNvPicPr preferRelativeResize="0"/>
          <p:nvPr/>
        </p:nvPicPr>
        <p:blipFill>
          <a:blip r:embed="rId3">
            <a:alphaModFix/>
          </a:blip>
          <a:stretch>
            <a:fillRect/>
          </a:stretch>
        </p:blipFill>
        <p:spPr>
          <a:xfrm>
            <a:off x="990600" y="4956838"/>
            <a:ext cx="2589375" cy="2589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17"/>
          <p:cNvPicPr preferRelativeResize="0"/>
          <p:nvPr/>
        </p:nvPicPr>
        <p:blipFill rotWithShape="1">
          <a:blip r:embed="rId3">
            <a:alphaModFix/>
          </a:blip>
          <a:srcRect b="0" l="0" r="0" t="0"/>
          <a:stretch/>
        </p:blipFill>
        <p:spPr>
          <a:xfrm>
            <a:off x="9164782" y="3999098"/>
            <a:ext cx="8486855" cy="2881060"/>
          </a:xfrm>
          <a:prstGeom prst="rect">
            <a:avLst/>
          </a:prstGeom>
          <a:noFill/>
          <a:ln>
            <a:noFill/>
          </a:ln>
        </p:spPr>
      </p:pic>
      <p:pic>
        <p:nvPicPr>
          <p:cNvPr id="239" name="Google Shape;239;p17"/>
          <p:cNvPicPr preferRelativeResize="0"/>
          <p:nvPr/>
        </p:nvPicPr>
        <p:blipFill rotWithShape="1">
          <a:blip r:embed="rId4">
            <a:alphaModFix/>
          </a:blip>
          <a:srcRect b="0" l="0" r="0" t="0"/>
          <a:stretch/>
        </p:blipFill>
        <p:spPr>
          <a:xfrm>
            <a:off x="2362200" y="4011835"/>
            <a:ext cx="5105400" cy="2871787"/>
          </a:xfrm>
          <a:prstGeom prst="rect">
            <a:avLst/>
          </a:prstGeom>
          <a:noFill/>
          <a:ln>
            <a:noFill/>
          </a:ln>
        </p:spPr>
      </p:pic>
      <p:sp>
        <p:nvSpPr>
          <p:cNvPr id="240" name="Google Shape;240;p17"/>
          <p:cNvSpPr txBox="1"/>
          <p:nvPr/>
        </p:nvSpPr>
        <p:spPr>
          <a:xfrm>
            <a:off x="762000" y="1943100"/>
            <a:ext cx="16868855" cy="123110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8000">
                <a:solidFill>
                  <a:srgbClr val="1155CC"/>
                </a:solidFill>
                <a:latin typeface="Leelawadee"/>
                <a:ea typeface="Leelawadee"/>
                <a:cs typeface="Leelawadee"/>
                <a:sym typeface="Leelawadee"/>
              </a:rPr>
              <a:t>THANK YOU</a:t>
            </a:r>
            <a:endParaRPr b="1" sz="8000">
              <a:solidFill>
                <a:srgbClr val="1155CC"/>
              </a:solidFill>
              <a:latin typeface="Leelawadee"/>
              <a:ea typeface="Leelawadee"/>
              <a:cs typeface="Leelawadee"/>
              <a:sym typeface="Leelawade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hp</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78ACF44ECFC64E22839881592E4FE6B0_13</vt:lpwstr>
  </property>
  <property fmtid="{D5CDD505-2E9C-101B-9397-08002B2CF9AE}" pid="3" name="KSOProductBuildVer">
    <vt:lpwstr>1033-12.2.0.21931</vt:lpwstr>
  </property>
</Properties>
</file>